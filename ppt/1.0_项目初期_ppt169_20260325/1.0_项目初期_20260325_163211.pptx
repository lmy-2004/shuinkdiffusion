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今天汇报的题目是《基于 Live2Diff 的实时水墨风格视频渲染研究》。这次汇报的重点，不是展示一个已经完成的大规模训练结果，而是说明我们为什么选择 Live2Diff 作为底座，以及我们如何围绕它去做面向水墨的视频扩散系统分析与改造设计。 [Pause]</a:t>
            </a:r>
          </a:p>
          <a:p>
            <a:endParaRPr lang="zh-CN" dirty="0"/>
          </a:p>
          <a:p>
            <a:r>
              <a:rPr lang="zh-CN" dirty="0"/>
              <a:t>Key points: ① 研究主题是实时水墨视频渲染 ② 方法路径是基于 Live2Diff 做系统研究 ③ 汇报重点是结构、瓶颈与升级路线</a:t>
            </a:r>
          </a:p>
          <a:p>
            <a:r>
              <a:rPr lang="zh-CN" dirty="0"/>
              <a:t>Duration: 0.5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下面我先给出整场汇报的结构。</a:t>
            </a:r>
          </a:p>
          <a:p>
            <a:endParaRPr lang="zh-CN" dirty="0"/>
          </a:p>
          <a:p>
            <a:r>
              <a:rPr lang="zh-CN" dirty="0"/>
              <a:t>这份答辩分成四部分。第一部分解释研究定位、选型逻辑和系统边界；第二部分拆解实时性的真正来源、UNet 的核心地位以及缓存机制；第三部分讨论为什么当前系统还不足以支撑高质量水墨；第四部分给出升级路线与最终结论。</a:t>
            </a:r>
          </a:p>
          <a:p>
            <a:endParaRPr lang="zh-CN" dirty="0"/>
          </a:p>
          <a:p>
            <a:r>
              <a:rPr lang="zh-CN" dirty="0"/>
              <a:t>Key points: ① 四个部分构成完整论证链 ② 先理解系统，再讨论改造 ③ 最后落到升级路线</a:t>
            </a:r>
          </a:p>
          <a:p>
            <a:r>
              <a:rPr lang="zh-CN" dirty="0"/>
              <a:t>Duration: 0.5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在进入细节之前，我先说明本项目到底在研究什么。</a:t>
            </a:r>
          </a:p>
          <a:p>
            <a:endParaRPr lang="zh-CN" dirty="0"/>
          </a:p>
          <a:p>
            <a:r>
              <a:rPr lang="zh-CN" dirty="0"/>
              <a:t>这一部分主要回答三个问题：我们究竟在解决什么问题，为什么选择 Live2Diff，以及这套系统在工程和算法上到底处在什么边界之内。把这三个问题说清楚，后面的机制分析和改造建议才有依托。</a:t>
            </a:r>
          </a:p>
          <a:p>
            <a:endParaRPr lang="zh-CN" dirty="0"/>
          </a:p>
          <a:p>
            <a:r>
              <a:rPr lang="zh-CN" dirty="0"/>
              <a:t>Key points: ① 明确研究对象 ② 明确选型逻辑 ③ 明确系统边界</a:t>
            </a:r>
          </a:p>
          <a:p>
            <a:r>
              <a:rPr lang="zh-CN" dirty="0"/>
              <a:t>Duration: 0.5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首先，我想把项目定位讲得非常清楚。</a:t>
            </a:r>
          </a:p>
          <a:p>
            <a:endParaRPr lang="zh-CN" dirty="0"/>
          </a:p>
          <a:p>
            <a:r>
              <a:rPr lang="zh-CN" dirty="0"/>
              <a:t>第一，这个项目不是从零再训练一个新的视频扩散模型。第二，我们的工作重点，是对现有实时视频扩散底座做结构拆解、瓶颈定位和面向水墨的改造设计。也就是说，本项目更接近“面向水墨视频的实时扩散系统研究”，而不是单纯做风格 LoRA 调参。 [Pause]</a:t>
            </a:r>
          </a:p>
          <a:p>
            <a:endParaRPr lang="zh-CN" dirty="0"/>
          </a:p>
          <a:p>
            <a:r>
              <a:rPr lang="zh-CN" dirty="0"/>
              <a:t>Key points: ① 核心不是重训新模型 ② 重点是系统分析与改造设计 ③ 水墨目标决定了研究方向</a:t>
            </a:r>
          </a:p>
          <a:p>
            <a:r>
              <a:rPr lang="zh-CN" dirty="0"/>
              <a:t>Duration: 1.2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在这个定位下，为什么我们选择 Live2Diff 而不是别的基线？</a:t>
            </a:r>
          </a:p>
          <a:p>
            <a:endParaRPr lang="zh-CN" dirty="0"/>
          </a:p>
          <a:p>
            <a:r>
              <a:rPr lang="zh-CN" dirty="0"/>
              <a:t>结论很直接，因为它已经解决了实时视频扩散里最难的共性问题。比如单向时序注意力、warmup、KV-cache、Depth Prior，以及对 DreamBooth 和 LoRA 的兼容，再加上 TinyVAE 和 TensorRT 这样的加速路径，使它成为一个能真正跑进实时区间的底座。 [Data] 换句话说，Live2Diff 的价值不在于它已经会画水墨，而在于它已经把“实时视频扩散能跑起来”这件事做成立了。</a:t>
            </a:r>
          </a:p>
          <a:p>
            <a:endParaRPr lang="zh-CN" dirty="0"/>
          </a:p>
          <a:p>
            <a:r>
              <a:rPr lang="zh-CN" dirty="0"/>
              <a:t>Key points: ① Live2Diff 已具备关键实时机制 ② 它定义了项目的技术边界 ③ 它提供的是底座而不是现成水墨方案</a:t>
            </a:r>
          </a:p>
          <a:p>
            <a:r>
              <a:rPr lang="zh-CN" dirty="0"/>
              <a:t>Duration: 1.2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明确了选型理由之后，我们再看它在工程上是怎么组织起来的。</a:t>
            </a:r>
          </a:p>
          <a:p>
            <a:endParaRPr lang="zh-CN" dirty="0"/>
          </a:p>
          <a:p>
            <a:r>
              <a:rPr lang="zh-CN" dirty="0"/>
              <a:t>从工程结构上看，这套系统可以拆成入口层、组装层、推理层和加速层四部分。而如果把单帧在线推理压缩成主链，它就是输入帧编码、深度先验编码、条件进入 Streaming UNet、再经过 LCM scheduler 推进，最后解码得到输出帧。这里最关键的一点是，系统主要工作在 latent 空间，而且当前帧结果是由当前观测与历史状态共同决定的。</a:t>
            </a:r>
          </a:p>
          <a:p>
            <a:endParaRPr lang="zh-CN" dirty="0"/>
          </a:p>
          <a:p>
            <a:r>
              <a:rPr lang="zh-CN" dirty="0"/>
              <a:t>Key points: ① 工程结构可分四层 ② 单帧推理在 latent 空间完成 ③ 当前帧输出依赖当前观测与历史状态</a:t>
            </a:r>
          </a:p>
          <a:p>
            <a:r>
              <a:rPr lang="zh-CN" dirty="0"/>
              <a:t>Duration: 1.3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接下来进入第二部分，也就是对关键机制的拆解。</a:t>
            </a:r>
          </a:p>
          <a:p>
            <a:endParaRPr lang="zh-CN" dirty="0"/>
          </a:p>
          <a:p>
            <a:r>
              <a:rPr lang="zh-CN" dirty="0"/>
              <a:t>这一部分我会重点回答三个问题：实时性到底从哪里来，为什么 UNet 是整个系统的中枢，以及 noisy batch、buffer、KV-cache 和 depth 条件分别承担什么职责。</a:t>
            </a:r>
          </a:p>
          <a:p>
            <a:endParaRPr lang="zh-CN" dirty="0"/>
          </a:p>
          <a:p>
            <a:r>
              <a:rPr lang="zh-CN" dirty="0"/>
              <a:t>Key points: ① 解释实时性的来源 ② 解释 UNet 的核心地位 ③ 解释关键缓存与条件机制</a:t>
            </a:r>
          </a:p>
          <a:p>
            <a:r>
              <a:rPr lang="zh-CN" dirty="0"/>
              <a:t>Duration: 0.4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我先讲最容易被误解的一点，也就是实时性的来源。</a:t>
            </a:r>
          </a:p>
          <a:p>
            <a:endParaRPr lang="zh-CN" dirty="0"/>
          </a:p>
          <a:p>
            <a:r>
              <a:rPr lang="zh-CN" dirty="0"/>
              <a:t>很多时候大家会把实时性简化成“因为用了 TensorRT”。但更准确的因果链应该是：先有单向时序注意力把视频问题改写成流式问题，再通过 warmup 建立上下文，通过 KV-cache 复用历史时序特征，再用 LCM few-step 压缩每帧的扩散步数，之后才是 denoising batch 和 TinyVAE、TensorRT 这类执行层优化。 [Pause] 所以前四项决定的是系统能不能进入实时区间，后两项决定的是它能不能继续逼近部署要求。</a:t>
            </a:r>
          </a:p>
          <a:p>
            <a:endParaRPr lang="zh-CN" dirty="0"/>
          </a:p>
          <a:p>
            <a:r>
              <a:rPr lang="zh-CN" dirty="0"/>
              <a:t>Key points: ① 流式建模和少步采样是实时性的前提 ② KV-cache 降低历史重算成本 ③ TensorRT 是放大器而不是起点</a:t>
            </a:r>
          </a:p>
          <a:p>
            <a:r>
              <a:rPr lang="zh-CN" dirty="0"/>
              <a:t>Duration: 1.4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在这条实时链路里，真正的中枢不是 wrapper，也不是 demo，而是 Streaming UNet。</a:t>
            </a:r>
          </a:p>
          <a:p>
            <a:endParaRPr lang="zh-CN" dirty="0"/>
          </a:p>
          <a:p>
            <a:r>
              <a:rPr lang="zh-CN" dirty="0"/>
              <a:t>原因在于，当前帧的 noisy latent、depth latent、文本条件、历史 KV-cache、时间窗口规则以及缓存写回位置，全部都在这里汇合。换句话说，这里的 UNet 已经不再只是一个“图像去噪网络”，而是一个以 latent 为主干、以时序注意力为记忆机制、以 depth 为结构偏置的流式视频去噪器。这个判断对后面的改造方向非常关键。 [Pause]</a:t>
            </a:r>
          </a:p>
          <a:p>
            <a:endParaRPr lang="zh-CN" dirty="0"/>
          </a:p>
          <a:p>
            <a:r>
              <a:rPr lang="zh-CN" dirty="0"/>
              <a:t>Key points: ① 所有关键状态都汇合到 UNet ② 它承担记忆、结构与去噪三重角色 ③ 后续改造应优先落在 UNet 主路径</a:t>
            </a:r>
          </a:p>
          <a:p>
            <a:r>
              <a:rPr lang="zh-CN" dirty="0"/>
              <a:t>Duration: 1.3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再往下看，就要理解几个最容易混淆的机制。</a:t>
            </a:r>
          </a:p>
          <a:p>
            <a:endParaRPr lang="zh-CN" dirty="0"/>
          </a:p>
          <a:p>
            <a:r>
              <a:rPr lang="zh-CN" dirty="0"/>
              <a:t>第一，noisy batch 并不是多帧一起生成，而是把同一视频流里不同去噪阶段的中间状态拼成一个 batch 来推进。第二，PrevXTLatentBuffer 和 PrevDepthLatentBuffer 保存的是流水线中的状态缓存，而不是历史最终图像。第三，KV-cache 保存的是 temporal attention 的历史 K/V 特征。第四，depth 在主路径里的角色更接近轻量结构约束，而不是风格表达器。这四点一起构成了当前系统能稳定运行的骨架。</a:t>
            </a:r>
          </a:p>
          <a:p>
            <a:endParaRPr lang="zh-CN" dirty="0"/>
          </a:p>
          <a:p>
            <a:r>
              <a:rPr lang="zh-CN" dirty="0"/>
              <a:t>Key points: ① noisy batch 是多阶段状态并行推进 ② 双 buffer 维持去噪流水线连续性 ③ depth 的职责是结构稳定而非风格表达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在理解了这些关键机制之后，我们就可以更准确地说明系统的短板在哪里。</a:t>
            </a:r>
          </a:p>
          <a:p>
            <a:endParaRPr lang="zh-CN" dirty="0"/>
          </a:p>
          <a:p>
            <a:r>
              <a:rPr lang="zh-CN" dirty="0"/>
              <a:t>这一部分不只是说“效果还不够好”，而是要把问题落到结构条件、时序目标、采样策略和记忆机制这些可改造的技术点上。</a:t>
            </a:r>
          </a:p>
          <a:p>
            <a:endParaRPr lang="zh-CN" dirty="0"/>
          </a:p>
          <a:p>
            <a:r>
              <a:rPr lang="zh-CN" dirty="0"/>
              <a:t>Key points: ① 讨论系统短板 ② 落到技术归因 ③ 为升级路线做铺垫</a:t>
            </a:r>
          </a:p>
          <a:p>
            <a:r>
              <a:rPr lang="zh-CN" dirty="0"/>
              <a:t>Duration: 0.4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先说结论：当前系统距离高质量实时水墨，差的不是简单堆算力。</a:t>
            </a:r>
          </a:p>
          <a:p>
            <a:endParaRPr lang="zh-CN" dirty="0"/>
          </a:p>
          <a:p>
            <a:r>
              <a:rPr lang="zh-CN" dirty="0"/>
              <a:t>直接短板有三个。第一，depth-only 条件不足以表达水墨真正敏感的留白、轮廓和笔触层次；第二，现有时序机制主要是保连续，不专门保笔触；第三，采样与预处理策略还不是水墨友好型。更本质地说，当前系统的问题在于结构条件过于单一、时序一致性目标过于通用、风格控制仍偏静态，而且现有 cache 虽然可复用，但还不可学习。 [Pause]</a:t>
            </a:r>
          </a:p>
          <a:p>
            <a:endParaRPr lang="zh-CN" dirty="0"/>
          </a:p>
          <a:p>
            <a:r>
              <a:rPr lang="zh-CN" dirty="0"/>
              <a:t>Key points: ① 水墨需要比通用风格化更强的条件控制 ② 当前时序目标不等于笔触一致性 ③ 关键差距在控制与建模方式</a:t>
            </a:r>
          </a:p>
          <a:p>
            <a:r>
              <a:rPr lang="zh-CN" dirty="0"/>
              <a:t>Duration: 1.4 minutes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基于这些短板，升级路线就不应停留在抽象建议，而要和现有代码结构一一对应。</a:t>
            </a:r>
          </a:p>
          <a:p>
            <a:endParaRPr lang="zh-CN" dirty="0"/>
          </a:p>
          <a:p>
            <a:r>
              <a:rPr lang="zh-CN" dirty="0"/>
              <a:t>最核心的两件事，第一是把结构条件从单一 depth 扩展成 depth、edge 或 lineart、前景背景 mask 的多条件融合；第二是把当前静态 few-step 升级为面向运动和风格阶段的分层调度。进一步看，还需要引入时序归一化、temporal adapter 或 temporal LoRA，以及更可学习的递归时序记忆。 [Data] 如果把整个答辩压缩成三句话，那就是：Live2Diff 提供了成立的实时视频扩散底座，UNet 是当前系统的真正中枢，而高质量实时水墨的关键差距在条件控制与时序建模。</a:t>
            </a:r>
          </a:p>
          <a:p>
            <a:endParaRPr lang="zh-CN" dirty="0"/>
          </a:p>
          <a:p>
            <a:r>
              <a:rPr lang="zh-CN" dirty="0"/>
              <a:t>Key points: ① 升级主线是多条件融合与分层采样 ② 改造应落到可执行的主路径模块 ③ 三条结论概括项目价值与后续方向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我的汇报到这里结束。</a:t>
            </a:r>
          </a:p>
          <a:p>
            <a:endParaRPr lang="zh-CN" dirty="0"/>
          </a:p>
          <a:p>
            <a:r>
              <a:rPr lang="zh-CN" dirty="0"/>
              <a:t>以上就是本项目现阶段关于 Live2Diff 实时水墨视频渲染研究的结构理解、问题定位与改造设计。后续我会继续把这些分析逐步落实到可验证的实验和工程改造中。谢谢各位老师，欢迎批评指正。</a:t>
            </a:r>
          </a:p>
          <a:p>
            <a:endParaRPr lang="zh-CN" dirty="0"/>
          </a:p>
          <a:p>
            <a:r>
              <a:rPr lang="zh-CN" dirty="0"/>
              <a:t>Key points: ① 汇报完成 ② 后续进入实验与工程验证 ③ 欢迎老师提出问题</a:t>
            </a:r>
          </a:p>
          <a:p>
            <a:r>
              <a:rPr lang="zh-CN" dirty="0"/>
              <a:t>Duration: 0.4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287000" y="238125"/>
            <a:ext cx="1524000" cy="476250"/>
          </a:xfrm>
          <a:custGeom>
            <a:avLst/>
            <a:gdLst/>
            <a:ahLst/>
            <a:cxnLst/>
            <a:rect l="l" t="t" r="r" b="b"/>
            <a:pathLst>
              <a:path w="1524000" h="4762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438150"/>
                </a:lnTo>
                <a:cubicBezTo>
                  <a:pt x="1524000" y="459192"/>
                  <a:pt x="1506942" y="476250"/>
                  <a:pt x="1485900" y="476250"/>
                </a:cubicBezTo>
                <a:lnTo>
                  <a:pt x="38100" y="476250"/>
                </a:lnTo>
                <a:cubicBezTo>
                  <a:pt x="17058" y="476250"/>
                  <a:pt x="0" y="459192"/>
                  <a:pt x="0" y="4381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369372" y="4067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39219" y="2436495"/>
            <a:ext cx="491356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基于 Live2Diff 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58022" y="3046095"/>
            <a:ext cx="7275957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实时水墨风格视频渲染研究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62771" y="3675698"/>
            <a:ext cx="366645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Ink-Diffusion 项目答辩汇报</a:t>
            </a:r>
          </a:p>
        </p:txBody>
      </p:sp>
      <p:sp>
        <p:nvSpPr>
          <p:cNvPr id="10" name="Line 10"/>
          <p:cNvSpPr/>
          <p:nvPr/>
        </p:nvSpPr>
        <p:spPr>
          <a:xfrm>
            <a:off x="4000500" y="4286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6048375" y="4238625"/>
            <a:ext cx="95250" cy="9525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75574" y="4758690"/>
            <a:ext cx="224085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答辩人：lmy_2004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00650" y="517207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指导老师：待补充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21176" y="5569268"/>
            <a:ext cx="17496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Ink-Diffusion 项目</a:t>
            </a:r>
          </a:p>
        </p:txBody>
      </p:sp>
      <p:sp>
        <p:nvSpPr>
          <p:cNvPr id="15" name="Rectangle 15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660946" y="653510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940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87889" y="2924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Freeform 7"/>
          <p:cNvSpPr/>
          <p:nvPr/>
        </p:nvSpPr>
        <p:spPr>
          <a:xfrm>
            <a:off x="762000" y="1095375"/>
            <a:ext cx="5143500" cy="857250"/>
          </a:xfrm>
          <a:custGeom>
            <a:avLst/>
            <a:gdLst/>
            <a:ahLst/>
            <a:cxnLst/>
            <a:rect l="l" t="t" r="r" b="b"/>
            <a:pathLst>
              <a:path w="5143500" h="857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781050"/>
                </a:lnTo>
                <a:cubicBezTo>
                  <a:pt x="5143500" y="823134"/>
                  <a:pt x="5109384" y="857250"/>
                  <a:pt x="5067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EEF5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1095375"/>
            <a:ext cx="57150" cy="857250"/>
          </a:xfrm>
          <a:custGeom>
            <a:avLst/>
            <a:gdLst/>
            <a:ahLst/>
            <a:cxnLst/>
            <a:rect l="l" t="t" r="r" b="b"/>
            <a:pathLst>
              <a:path w="57150" h="857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828675"/>
                </a:lnTo>
                <a:cubicBezTo>
                  <a:pt x="57150" y="844457"/>
                  <a:pt x="44357" y="857250"/>
                  <a:pt x="28575" y="857250"/>
                </a:cubicBezTo>
                <a:lnTo>
                  <a:pt x="28575" y="857250"/>
                </a:lnTo>
                <a:cubicBezTo>
                  <a:pt x="12793" y="857250"/>
                  <a:pt x="0" y="844457"/>
                  <a:pt x="0" y="828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8710" y="123253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9265" y="13296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研究定位与系统理解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67735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回答研究对象、选型逻辑与系统边界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86500" y="1095375"/>
            <a:ext cx="5143500" cy="857250"/>
          </a:xfrm>
          <a:custGeom>
            <a:avLst/>
            <a:gdLst/>
            <a:ahLst/>
            <a:cxnLst/>
            <a:rect l="l" t="t" r="r" b="b"/>
            <a:pathLst>
              <a:path w="5143500" h="857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781050"/>
                </a:lnTo>
                <a:cubicBezTo>
                  <a:pt x="5143500" y="823134"/>
                  <a:pt x="5109384" y="857250"/>
                  <a:pt x="5067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EEF5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6286500" y="1095375"/>
            <a:ext cx="57150" cy="857250"/>
          </a:xfrm>
          <a:custGeom>
            <a:avLst/>
            <a:gdLst/>
            <a:ahLst/>
            <a:cxnLst/>
            <a:rect l="l" t="t" r="r" b="b"/>
            <a:pathLst>
              <a:path w="57150" h="857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828675"/>
                </a:lnTo>
                <a:cubicBezTo>
                  <a:pt x="57150" y="844457"/>
                  <a:pt x="44357" y="857250"/>
                  <a:pt x="28575" y="857250"/>
                </a:cubicBezTo>
                <a:lnTo>
                  <a:pt x="28575" y="857250"/>
                </a:lnTo>
                <a:cubicBezTo>
                  <a:pt x="12793" y="857250"/>
                  <a:pt x="0" y="844457"/>
                  <a:pt x="0" y="828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33210" y="12325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3765" y="13296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关键机制拆解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677352"/>
            <a:ext cx="2403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解释实时性、UNet 中枢与缓存机制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2190750"/>
            <a:ext cx="5143500" cy="857250"/>
          </a:xfrm>
          <a:custGeom>
            <a:avLst/>
            <a:gdLst/>
            <a:ahLst/>
            <a:cxnLst/>
            <a:rect l="l" t="t" r="r" b="b"/>
            <a:pathLst>
              <a:path w="5143500" h="857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781050"/>
                </a:lnTo>
                <a:cubicBezTo>
                  <a:pt x="5143500" y="823134"/>
                  <a:pt x="5109384" y="857250"/>
                  <a:pt x="5067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EEF5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762000" y="2190750"/>
            <a:ext cx="57150" cy="857250"/>
          </a:xfrm>
          <a:custGeom>
            <a:avLst/>
            <a:gdLst/>
            <a:ahLst/>
            <a:cxnLst/>
            <a:rect l="l" t="t" r="r" b="b"/>
            <a:pathLst>
              <a:path w="57150" h="857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828675"/>
                </a:lnTo>
                <a:cubicBezTo>
                  <a:pt x="57150" y="844457"/>
                  <a:pt x="44357" y="857250"/>
                  <a:pt x="28575" y="857250"/>
                </a:cubicBezTo>
                <a:lnTo>
                  <a:pt x="28575" y="857250"/>
                </a:lnTo>
                <a:cubicBezTo>
                  <a:pt x="12793" y="857250"/>
                  <a:pt x="0" y="844457"/>
                  <a:pt x="0" y="828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87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9265" y="2425065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瓶颈与改造方向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77272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说明为何离高质量水墨仍有距离</a:t>
            </a:r>
          </a:p>
        </p:txBody>
      </p:sp>
      <p:sp>
        <p:nvSpPr>
          <p:cNvPr id="22" name="Freeform 22"/>
          <p:cNvSpPr/>
          <p:nvPr/>
        </p:nvSpPr>
        <p:spPr>
          <a:xfrm>
            <a:off x="6286500" y="2190750"/>
            <a:ext cx="5143500" cy="857250"/>
          </a:xfrm>
          <a:custGeom>
            <a:avLst/>
            <a:gdLst/>
            <a:ahLst/>
            <a:cxnLst/>
            <a:rect l="l" t="t" r="r" b="b"/>
            <a:pathLst>
              <a:path w="5143500" h="857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781050"/>
                </a:lnTo>
                <a:cubicBezTo>
                  <a:pt x="5143500" y="823134"/>
                  <a:pt x="5109384" y="857250"/>
                  <a:pt x="5067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EEF5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286500" y="2190750"/>
            <a:ext cx="57150" cy="857250"/>
          </a:xfrm>
          <a:custGeom>
            <a:avLst/>
            <a:gdLst/>
            <a:ahLst/>
            <a:cxnLst/>
            <a:rect l="l" t="t" r="r" b="b"/>
            <a:pathLst>
              <a:path w="57150" h="8572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828675"/>
                </a:lnTo>
                <a:cubicBezTo>
                  <a:pt x="57150" y="844457"/>
                  <a:pt x="44357" y="857250"/>
                  <a:pt x="28575" y="857250"/>
                </a:cubicBezTo>
                <a:lnTo>
                  <a:pt x="28575" y="857250"/>
                </a:lnTo>
                <a:cubicBezTo>
                  <a:pt x="12793" y="857250"/>
                  <a:pt x="0" y="844457"/>
                  <a:pt x="0" y="8286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332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3765" y="2425065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升级路线与总结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772728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给出面向水墨的结构化升级链路</a:t>
            </a:r>
          </a:p>
        </p:txBody>
      </p:sp>
      <p:sp>
        <p:nvSpPr>
          <p:cNvPr id="27" name="Freeform 27"/>
          <p:cNvSpPr/>
          <p:nvPr/>
        </p:nvSpPr>
        <p:spPr>
          <a:xfrm>
            <a:off x="762000" y="3286125"/>
            <a:ext cx="5143500" cy="857250"/>
          </a:xfrm>
          <a:custGeom>
            <a:avLst/>
            <a:gdLst/>
            <a:ahLst/>
            <a:cxnLst/>
            <a:rect l="l" t="t" r="r" b="b"/>
            <a:pathLst>
              <a:path w="5143500" h="857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781050"/>
                </a:lnTo>
                <a:cubicBezTo>
                  <a:pt x="5143500" y="823134"/>
                  <a:pt x="5109384" y="857250"/>
                  <a:pt x="5067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  <a:prstDash val="dash"/>
          </a:ln>
        </p:spPr>
      </p:sp>
      <p:sp>
        <p:nvSpPr>
          <p:cNvPr id="28" name="TextBox 28"/>
          <p:cNvSpPr txBox="1"/>
          <p:nvPr/>
        </p:nvSpPr>
        <p:spPr>
          <a:xfrm>
            <a:off x="2529840" y="36614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研究结论与答辩讨论</a:t>
            </a:r>
          </a:p>
        </p:txBody>
      </p:sp>
      <p:sp>
        <p:nvSpPr>
          <p:cNvPr id="29" name="Freeform 29"/>
          <p:cNvSpPr/>
          <p:nvPr/>
        </p:nvSpPr>
        <p:spPr>
          <a:xfrm>
            <a:off x="6286500" y="3286125"/>
            <a:ext cx="5143500" cy="857250"/>
          </a:xfrm>
          <a:custGeom>
            <a:avLst/>
            <a:gdLst/>
            <a:ahLst/>
            <a:cxnLst/>
            <a:rect l="l" t="t" r="r" b="b"/>
            <a:pathLst>
              <a:path w="5143500" h="857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781050"/>
                </a:lnTo>
                <a:cubicBezTo>
                  <a:pt x="5143500" y="823134"/>
                  <a:pt x="5109384" y="857250"/>
                  <a:pt x="5067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  <a:prstDash val="dash"/>
          </a:ln>
        </p:spPr>
      </p:sp>
      <p:sp>
        <p:nvSpPr>
          <p:cNvPr id="30" name="TextBox 30"/>
          <p:cNvSpPr txBox="1"/>
          <p:nvPr/>
        </p:nvSpPr>
        <p:spPr>
          <a:xfrm>
            <a:off x="8054340" y="36614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后续实验与工程落地</a:t>
            </a:r>
          </a:p>
        </p:txBody>
      </p:sp>
      <p:sp>
        <p:nvSpPr>
          <p:cNvPr id="31" name="Line 3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438477" y="65351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6B8A">
              <a:alpha val="2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183B5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327074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785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研究定位与系统理解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640" y="3710940"/>
            <a:ext cx="28717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为什么选择 Live2Diff，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6640" y="3996690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以及这套系统究竟在研究什么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43D3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840647" y="6331268"/>
            <a:ext cx="39874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D9E3EE"/>
                </a:solidFill>
                <a:latin typeface="Arial"/>
                <a:ea typeface="Microsoft YaHei"/>
                <a:cs typeface="Arial"/>
              </a:rPr>
              <a:t>基于 Live2Diff 的实时水墨风格视频渲染研究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3220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项目定位与研究问题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78389" y="2924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752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本项目聚焦实时扩散系统拆解与水墨导向改造，而不是重训新模型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9570" y="6522720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数据来源：项目讲稿梳理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93067" y="65227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研究定位与系统理解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142875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019300"/>
                </a:lnTo>
                <a:cubicBezTo>
                  <a:pt x="3429000" y="2061384"/>
                  <a:pt x="3394884" y="2095500"/>
                  <a:pt x="33528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1428750"/>
            <a:ext cx="3429000" cy="2095500"/>
          </a:xfrm>
          <a:custGeom>
            <a:avLst/>
            <a:gdLst/>
            <a:ahLst/>
            <a:cxnLst/>
            <a:rect l="l" t="t" r="r" b="b"/>
            <a:pathLst>
              <a:path w="3429000" h="20955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2019300"/>
                </a:lnTo>
                <a:cubicBezTo>
                  <a:pt x="3429000" y="2061384"/>
                  <a:pt x="3394884" y="2095500"/>
                  <a:pt x="33528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800100" y="1676400"/>
            <a:ext cx="228600" cy="228600"/>
            <a:chOff x="800100" y="1676400"/>
            <a:chExt cx="228600" cy="228600"/>
          </a:xfrm>
        </p:grpSpPr>
        <p:sp>
          <p:nvSpPr>
            <p:cNvPr id="16" name="Freeform 16"/>
            <p:cNvSpPr/>
            <p:nvPr/>
          </p:nvSpPr>
          <p:spPr>
            <a:xfrm>
              <a:off x="857250" y="17335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cubicBezTo>
                    <a:pt x="25587" y="0"/>
                    <a:pt x="0" y="25587"/>
                    <a:pt x="0" y="57150"/>
                  </a:cubicBezTo>
                  <a:cubicBezTo>
                    <a:pt x="0" y="88713"/>
                    <a:pt x="25587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7"/>
                    <a:pt x="88713" y="0"/>
                    <a:pt x="57150" y="0"/>
                  </a:cubicBezTo>
                  <a:close/>
                  <a:moveTo>
                    <a:pt x="28575" y="57150"/>
                  </a:moveTo>
                  <a:cubicBezTo>
                    <a:pt x="28575" y="41368"/>
                    <a:pt x="41368" y="28575"/>
                    <a:pt x="57150" y="28575"/>
                  </a:cubicBezTo>
                  <a:cubicBezTo>
                    <a:pt x="72932" y="28575"/>
                    <a:pt x="85725" y="41368"/>
                    <a:pt x="85725" y="57150"/>
                  </a:cubicBezTo>
                  <a:cubicBezTo>
                    <a:pt x="85725" y="72932"/>
                    <a:pt x="72932" y="85725"/>
                    <a:pt x="57150" y="85725"/>
                  </a:cubicBezTo>
                  <a:cubicBezTo>
                    <a:pt x="41368" y="85725"/>
                    <a:pt x="28575" y="72932"/>
                    <a:pt x="28575" y="57150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00100" y="1676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  <a:moveTo>
                    <a:pt x="28575" y="114300"/>
                  </a:moveTo>
                  <a:cubicBezTo>
                    <a:pt x="28575" y="66955"/>
                    <a:pt x="66955" y="28575"/>
                    <a:pt x="114300" y="28575"/>
                  </a:cubicBezTo>
                  <a:cubicBezTo>
                    <a:pt x="161644" y="28575"/>
                    <a:pt x="200025" y="66955"/>
                    <a:pt x="200025" y="114300"/>
                  </a:cubicBezTo>
                  <a:cubicBezTo>
                    <a:pt x="200025" y="161644"/>
                    <a:pt x="161644" y="200025"/>
                    <a:pt x="114300" y="200025"/>
                  </a:cubicBezTo>
                  <a:cubicBezTo>
                    <a:pt x="66955" y="200025"/>
                    <a:pt x="28575" y="161644"/>
                    <a:pt x="28575" y="114300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120140" y="16725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研究问题</a:t>
            </a:r>
          </a:p>
        </p:txBody>
      </p:sp>
      <p:sp>
        <p:nvSpPr>
          <p:cNvPr id="20" name="Ellipse 20"/>
          <p:cNvSpPr/>
          <p:nvPr/>
        </p:nvSpPr>
        <p:spPr>
          <a:xfrm>
            <a:off x="781050" y="21812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54405" y="212121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在接近实时约束下，把逐帧处理改造成流式推理</a:t>
            </a:r>
          </a:p>
        </p:txBody>
      </p:sp>
      <p:sp>
        <p:nvSpPr>
          <p:cNvPr id="22" name="Ellipse 22"/>
          <p:cNvSpPr/>
          <p:nvPr/>
        </p:nvSpPr>
        <p:spPr>
          <a:xfrm>
            <a:off x="781050" y="25050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54405" y="2445068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在现有实时底座上逼近水墨风格的留白与笔触要求</a:t>
            </a:r>
          </a:p>
        </p:txBody>
      </p:sp>
      <p:sp>
        <p:nvSpPr>
          <p:cNvPr id="24" name="Ellipse 24"/>
          <p:cNvSpPr/>
          <p:nvPr/>
        </p:nvSpPr>
        <p:spPr>
          <a:xfrm>
            <a:off x="781050" y="28289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54405" y="2768918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回答系统结构、瓶颈与面向水墨的改造方式</a:t>
            </a:r>
          </a:p>
        </p:txBody>
      </p:sp>
      <p:sp>
        <p:nvSpPr>
          <p:cNvPr id="26" name="Freeform 26"/>
          <p:cNvSpPr/>
          <p:nvPr/>
        </p:nvSpPr>
        <p:spPr>
          <a:xfrm>
            <a:off x="4286250" y="1428750"/>
            <a:ext cx="7334250" cy="2095500"/>
          </a:xfrm>
          <a:custGeom>
            <a:avLst/>
            <a:gdLst/>
            <a:ahLst/>
            <a:cxnLst/>
            <a:rect l="l" t="t" r="r" b="b"/>
            <a:pathLst>
              <a:path w="7334250" h="2095500">
                <a:moveTo>
                  <a:pt x="76200" y="0"/>
                </a:moveTo>
                <a:lnTo>
                  <a:pt x="7258050" y="0"/>
                </a:lnTo>
                <a:cubicBezTo>
                  <a:pt x="7300134" y="0"/>
                  <a:pt x="7334250" y="34116"/>
                  <a:pt x="7334250" y="76200"/>
                </a:cubicBezTo>
                <a:lnTo>
                  <a:pt x="7334250" y="2019300"/>
                </a:lnTo>
                <a:cubicBezTo>
                  <a:pt x="7334250" y="2061384"/>
                  <a:pt x="7300134" y="2095500"/>
                  <a:pt x="725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4286250" y="1428750"/>
            <a:ext cx="7334250" cy="2095500"/>
          </a:xfrm>
          <a:custGeom>
            <a:avLst/>
            <a:gdLst/>
            <a:ahLst/>
            <a:cxnLst/>
            <a:rect l="l" t="t" r="r" b="b"/>
            <a:pathLst>
              <a:path w="7334250" h="2095500">
                <a:moveTo>
                  <a:pt x="76200" y="0"/>
                </a:moveTo>
                <a:lnTo>
                  <a:pt x="7258050" y="0"/>
                </a:lnTo>
                <a:cubicBezTo>
                  <a:pt x="7300134" y="0"/>
                  <a:pt x="7334250" y="34116"/>
                  <a:pt x="7334250" y="76200"/>
                </a:cubicBezTo>
                <a:lnTo>
                  <a:pt x="7334250" y="2019300"/>
                </a:lnTo>
                <a:cubicBezTo>
                  <a:pt x="7334250" y="2061384"/>
                  <a:pt x="7300134" y="2095500"/>
                  <a:pt x="725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4514850" y="1676400"/>
            <a:ext cx="228600" cy="228600"/>
            <a:chOff x="4514850" y="1676400"/>
            <a:chExt cx="228600" cy="228600"/>
          </a:xfrm>
        </p:grpSpPr>
        <p:sp>
          <p:nvSpPr>
            <p:cNvPr id="28" name="Freeform 28"/>
            <p:cNvSpPr/>
            <p:nvPr/>
          </p:nvSpPr>
          <p:spPr>
            <a:xfrm>
              <a:off x="4600575" y="17621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57150"/>
                  </a:moveTo>
                  <a:lnTo>
                    <a:pt x="0" y="0"/>
                  </a:ln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514850" y="16764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42862" y="28575"/>
                  </a:moveTo>
                  <a:lnTo>
                    <a:pt x="42862" y="0"/>
                  </a:lnTo>
                  <a:lnTo>
                    <a:pt x="71438" y="0"/>
                  </a:lnTo>
                  <a:lnTo>
                    <a:pt x="71438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lnTo>
                    <a:pt x="128588" y="28575"/>
                  </a:lnTo>
                  <a:lnTo>
                    <a:pt x="157162" y="28575"/>
                  </a:lnTo>
                  <a:lnTo>
                    <a:pt x="157162" y="0"/>
                  </a:lnTo>
                  <a:lnTo>
                    <a:pt x="185738" y="0"/>
                  </a:lnTo>
                  <a:lnTo>
                    <a:pt x="185738" y="28575"/>
                  </a:lnTo>
                  <a:lnTo>
                    <a:pt x="200025" y="28575"/>
                  </a:lnTo>
                  <a:lnTo>
                    <a:pt x="200025" y="42862"/>
                  </a:lnTo>
                  <a:lnTo>
                    <a:pt x="228600" y="42862"/>
                  </a:lnTo>
                  <a:lnTo>
                    <a:pt x="228600" y="71438"/>
                  </a:lnTo>
                  <a:lnTo>
                    <a:pt x="200025" y="71438"/>
                  </a:lnTo>
                  <a:lnTo>
                    <a:pt x="200025" y="100012"/>
                  </a:lnTo>
                  <a:lnTo>
                    <a:pt x="228600" y="100012"/>
                  </a:lnTo>
                  <a:lnTo>
                    <a:pt x="228600" y="128588"/>
                  </a:lnTo>
                  <a:lnTo>
                    <a:pt x="200025" y="128588"/>
                  </a:lnTo>
                  <a:lnTo>
                    <a:pt x="200025" y="157162"/>
                  </a:lnTo>
                  <a:lnTo>
                    <a:pt x="228600" y="157162"/>
                  </a:lnTo>
                  <a:lnTo>
                    <a:pt x="228600" y="185738"/>
                  </a:lnTo>
                  <a:lnTo>
                    <a:pt x="200025" y="185738"/>
                  </a:lnTo>
                  <a:lnTo>
                    <a:pt x="200025" y="200025"/>
                  </a:lnTo>
                  <a:lnTo>
                    <a:pt x="185738" y="200025"/>
                  </a:lnTo>
                  <a:lnTo>
                    <a:pt x="185738" y="228600"/>
                  </a:lnTo>
                  <a:lnTo>
                    <a:pt x="157162" y="228600"/>
                  </a:lnTo>
                  <a:lnTo>
                    <a:pt x="157162" y="200025"/>
                  </a:lnTo>
                  <a:lnTo>
                    <a:pt x="128588" y="200025"/>
                  </a:lnTo>
                  <a:lnTo>
                    <a:pt x="128588" y="228600"/>
                  </a:lnTo>
                  <a:lnTo>
                    <a:pt x="100012" y="228600"/>
                  </a:lnTo>
                  <a:lnTo>
                    <a:pt x="100012" y="200025"/>
                  </a:lnTo>
                  <a:lnTo>
                    <a:pt x="71438" y="200025"/>
                  </a:lnTo>
                  <a:lnTo>
                    <a:pt x="71438" y="228600"/>
                  </a:lnTo>
                  <a:lnTo>
                    <a:pt x="42862" y="228600"/>
                  </a:lnTo>
                  <a:lnTo>
                    <a:pt x="42862" y="200025"/>
                  </a:lnTo>
                  <a:lnTo>
                    <a:pt x="28575" y="200025"/>
                  </a:lnTo>
                  <a:lnTo>
                    <a:pt x="28575" y="185738"/>
                  </a:lnTo>
                  <a:lnTo>
                    <a:pt x="0" y="185738"/>
                  </a:lnTo>
                  <a:lnTo>
                    <a:pt x="0" y="157162"/>
                  </a:lnTo>
                  <a:lnTo>
                    <a:pt x="28575" y="157162"/>
                  </a:lnTo>
                  <a:lnTo>
                    <a:pt x="28575" y="128588"/>
                  </a:lnTo>
                  <a:lnTo>
                    <a:pt x="0" y="128588"/>
                  </a:lnTo>
                  <a:lnTo>
                    <a:pt x="0" y="100012"/>
                  </a:lnTo>
                  <a:lnTo>
                    <a:pt x="28575" y="100012"/>
                  </a:lnTo>
                  <a:lnTo>
                    <a:pt x="28575" y="71438"/>
                  </a:lnTo>
                  <a:lnTo>
                    <a:pt x="0" y="71438"/>
                  </a:lnTo>
                  <a:lnTo>
                    <a:pt x="0" y="42862"/>
                  </a:lnTo>
                  <a:lnTo>
                    <a:pt x="28575" y="42862"/>
                  </a:lnTo>
                  <a:lnTo>
                    <a:pt x="28575" y="28575"/>
                  </a:lnTo>
                  <a:lnTo>
                    <a:pt x="42862" y="28575"/>
                  </a:lnTo>
                  <a:close/>
                  <a:moveTo>
                    <a:pt x="57150" y="57150"/>
                  </a:moveTo>
                  <a:lnTo>
                    <a:pt x="57150" y="171450"/>
                  </a:lnTo>
                  <a:lnTo>
                    <a:pt x="171450" y="171450"/>
                  </a:lnTo>
                  <a:lnTo>
                    <a:pt x="171450" y="57150"/>
                  </a:lnTo>
                  <a:lnTo>
                    <a:pt x="57150" y="5715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4834890" y="16725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sp>
        <p:nvSpPr>
          <p:cNvPr id="32" name="Ellipse 32"/>
          <p:cNvSpPr/>
          <p:nvPr/>
        </p:nvSpPr>
        <p:spPr>
          <a:xfrm>
            <a:off x="4495800" y="21812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669155" y="2121218"/>
            <a:ext cx="57028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底层生成骨架来自 Live2Diff，而不是从零训练新的视频扩散模型</a:t>
            </a:r>
          </a:p>
        </p:txBody>
      </p:sp>
      <p:sp>
        <p:nvSpPr>
          <p:cNvPr id="34" name="Ellipse 34"/>
          <p:cNvSpPr/>
          <p:nvPr/>
        </p:nvSpPr>
        <p:spPr>
          <a:xfrm>
            <a:off x="4495800" y="25050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669155" y="2445068"/>
            <a:ext cx="61464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当前重点是结构拆解、机制分析、瓶颈定位与面向水墨的系统改造设计</a:t>
            </a:r>
          </a:p>
        </p:txBody>
      </p:sp>
      <p:sp>
        <p:nvSpPr>
          <p:cNvPr id="36" name="Ellipse 36"/>
          <p:cNvSpPr/>
          <p:nvPr/>
        </p:nvSpPr>
        <p:spPr>
          <a:xfrm>
            <a:off x="4495800" y="28289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669155" y="2768918"/>
            <a:ext cx="65211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因此它更像“面向水墨视频的实时扩散系统研究”，而非单纯风格 LoRA 调参</a:t>
            </a:r>
          </a:p>
        </p:txBody>
      </p:sp>
      <p:sp>
        <p:nvSpPr>
          <p:cNvPr id="38" name="Freeform 38"/>
          <p:cNvSpPr/>
          <p:nvPr/>
        </p:nvSpPr>
        <p:spPr>
          <a:xfrm>
            <a:off x="571500" y="3810000"/>
            <a:ext cx="11049000" cy="1714500"/>
          </a:xfrm>
          <a:custGeom>
            <a:avLst/>
            <a:gdLst/>
            <a:ahLst/>
            <a:cxnLst/>
            <a:rect l="l" t="t" r="r" b="b"/>
            <a:pathLst>
              <a:path w="11049000" h="1714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638300"/>
                </a:lnTo>
                <a:cubicBezTo>
                  <a:pt x="11049000" y="1680384"/>
                  <a:pt x="11014884" y="1714500"/>
                  <a:pt x="10972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BFD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571500" y="3810000"/>
            <a:ext cx="11049000" cy="1714500"/>
          </a:xfrm>
          <a:custGeom>
            <a:avLst/>
            <a:gdLst/>
            <a:ahLst/>
            <a:cxnLst/>
            <a:rect l="l" t="t" r="r" b="b"/>
            <a:pathLst>
              <a:path w="11049000" h="1714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638300"/>
                </a:lnTo>
                <a:cubicBezTo>
                  <a:pt x="11049000" y="1680384"/>
                  <a:pt x="11014884" y="1714500"/>
                  <a:pt x="10972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15340" y="39585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答辩主线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9150" y="4391025"/>
            <a:ext cx="59312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1. 先解释为什么选择 Live2Diff，以及这套系统的技术边界。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9150" y="4714875"/>
            <a:ext cx="74647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2. 再拆解实时性的真正来源、UNet 的核心地位，以及缓存与条件注入机制。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9150" y="5038725"/>
            <a:ext cx="71361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3. 最后说明为什么它还不足以支撑高质量水墨，并给出对应的升级路线。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56357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为什么选择 Live2Diff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78389" y="2924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5506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选择 Live2Diff 的原因，在于它已经解决了实时视频扩散里最难的共性问题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9570" y="6522720"/>
            <a:ext cx="18302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数据来源：Live2Diff 架构分析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93067" y="65227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研究定位与系统理解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1428750"/>
            <a:ext cx="5143500" cy="4095750"/>
          </a:xfrm>
          <a:custGeom>
            <a:avLst/>
            <a:gdLst/>
            <a:ahLst/>
            <a:cxnLst/>
            <a:rect l="l" t="t" r="r" b="b"/>
            <a:pathLst>
              <a:path w="5143500" h="40957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4019550"/>
                </a:lnTo>
                <a:cubicBezTo>
                  <a:pt x="5143500" y="4061634"/>
                  <a:pt x="5109384" y="4095750"/>
                  <a:pt x="50673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1428750"/>
            <a:ext cx="5143500" cy="4095750"/>
          </a:xfrm>
          <a:custGeom>
            <a:avLst/>
            <a:gdLst/>
            <a:ahLst/>
            <a:cxnLst/>
            <a:rect l="l" t="t" r="r" b="b"/>
            <a:pathLst>
              <a:path w="5143500" h="40957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4019550"/>
                </a:lnTo>
                <a:cubicBezTo>
                  <a:pt x="5143500" y="4061634"/>
                  <a:pt x="5109384" y="4095750"/>
                  <a:pt x="50673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80010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4"/>
                  <a:pt x="177426" y="0"/>
                  <a:pt x="114300" y="0"/>
                </a:cubicBezTo>
                <a:cubicBezTo>
                  <a:pt x="51174" y="0"/>
                  <a:pt x="0" y="51174"/>
                  <a:pt x="0" y="114300"/>
                </a:cubicBezTo>
                <a:cubicBezTo>
                  <a:pt x="0" y="177426"/>
                  <a:pt x="51174" y="228600"/>
                  <a:pt x="114300" y="228600"/>
                </a:cubicBezTo>
                <a:close/>
                <a:moveTo>
                  <a:pt x="181553" y="81540"/>
                </a:moveTo>
                <a:lnTo>
                  <a:pt x="161347" y="61335"/>
                </a:lnTo>
                <a:lnTo>
                  <a:pt x="92869" y="129813"/>
                </a:lnTo>
                <a:lnTo>
                  <a:pt x="67253" y="104197"/>
                </a:lnTo>
                <a:lnTo>
                  <a:pt x="47047" y="124403"/>
                </a:lnTo>
                <a:lnTo>
                  <a:pt x="92869" y="170224"/>
                </a:lnTo>
                <a:lnTo>
                  <a:pt x="181553" y="81540"/>
                </a:lnTo>
                <a:close/>
              </a:path>
            </a:pathLst>
          </a:custGeom>
          <a:solidFill>
            <a:srgbClr val="2E8B5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0140" y="167259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公开基线已具备的关键能力</a:t>
            </a:r>
          </a:p>
        </p:txBody>
      </p:sp>
      <p:sp>
        <p:nvSpPr>
          <p:cNvPr id="18" name="Ellipse 18"/>
          <p:cNvSpPr/>
          <p:nvPr/>
        </p:nvSpPr>
        <p:spPr>
          <a:xfrm>
            <a:off x="781050" y="21812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52500" y="210502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单向时序注意力与 warmup</a:t>
            </a:r>
          </a:p>
        </p:txBody>
      </p:sp>
      <p:sp>
        <p:nvSpPr>
          <p:cNvPr id="20" name="Ellipse 20"/>
          <p:cNvSpPr/>
          <p:nvPr/>
        </p:nvSpPr>
        <p:spPr>
          <a:xfrm>
            <a:off x="781050" y="25812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52500" y="2505075"/>
            <a:ext cx="26012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推理期多时间步 KV-cache</a:t>
            </a:r>
          </a:p>
        </p:txBody>
      </p:sp>
      <p:sp>
        <p:nvSpPr>
          <p:cNvPr id="22" name="Ellipse 22"/>
          <p:cNvSpPr/>
          <p:nvPr/>
        </p:nvSpPr>
        <p:spPr>
          <a:xfrm>
            <a:off x="781050" y="29813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52500" y="2905125"/>
            <a:ext cx="21959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Depth Prior 结构约束</a:t>
            </a:r>
          </a:p>
        </p:txBody>
      </p:sp>
      <p:sp>
        <p:nvSpPr>
          <p:cNvPr id="24" name="Ellipse 24"/>
          <p:cNvSpPr/>
          <p:nvPr/>
        </p:nvSpPr>
        <p:spPr>
          <a:xfrm>
            <a:off x="781050" y="33813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52500" y="3305175"/>
            <a:ext cx="34666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对 DreamBooth / LoRA 的风格兼容</a:t>
            </a:r>
          </a:p>
        </p:txBody>
      </p:sp>
      <p:sp>
        <p:nvSpPr>
          <p:cNvPr id="26" name="Ellipse 26"/>
          <p:cNvSpPr/>
          <p:nvPr/>
        </p:nvSpPr>
        <p:spPr>
          <a:xfrm>
            <a:off x="781050" y="37814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52500" y="3705225"/>
            <a:ext cx="32037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TinyVAE / TensorRT 等加速路径</a:t>
            </a:r>
          </a:p>
        </p:txBody>
      </p:sp>
      <p:sp>
        <p:nvSpPr>
          <p:cNvPr id="28" name="Freeform 28"/>
          <p:cNvSpPr/>
          <p:nvPr/>
        </p:nvSpPr>
        <p:spPr>
          <a:xfrm>
            <a:off x="6096000" y="1428750"/>
            <a:ext cx="5524500" cy="4095750"/>
          </a:xfrm>
          <a:custGeom>
            <a:avLst/>
            <a:gdLst/>
            <a:ahLst/>
            <a:cxnLst/>
            <a:rect l="l" t="t" r="r" b="b"/>
            <a:pathLst>
              <a:path w="5524500" h="409575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4019550"/>
                </a:lnTo>
                <a:cubicBezTo>
                  <a:pt x="5524500" y="4061634"/>
                  <a:pt x="5490384" y="4095750"/>
                  <a:pt x="54483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6096000" y="1428750"/>
            <a:ext cx="5524500" cy="4095750"/>
          </a:xfrm>
          <a:custGeom>
            <a:avLst/>
            <a:gdLst/>
            <a:ahLst/>
            <a:cxnLst/>
            <a:rect l="l" t="t" r="r" b="b"/>
            <a:pathLst>
              <a:path w="5524500" h="409575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4019550"/>
                </a:lnTo>
                <a:cubicBezTo>
                  <a:pt x="5524500" y="4061634"/>
                  <a:pt x="5490384" y="4095750"/>
                  <a:pt x="54483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6338888" y="1676400"/>
            <a:ext cx="200025" cy="228600"/>
            <a:chOff x="6338888" y="1676400"/>
            <a:chExt cx="200025" cy="228600"/>
          </a:xfrm>
        </p:grpSpPr>
        <p:sp>
          <p:nvSpPr>
            <p:cNvPr id="30" name="Freeform 30"/>
            <p:cNvSpPr/>
            <p:nvPr/>
          </p:nvSpPr>
          <p:spPr>
            <a:xfrm>
              <a:off x="6338888" y="1676400"/>
              <a:ext cx="200025" cy="114300"/>
            </a:xfrm>
            <a:custGeom>
              <a:avLst/>
              <a:gdLst/>
              <a:ahLst/>
              <a:cxnLst/>
              <a:rect l="l" t="t" r="r" b="b"/>
              <a:pathLst>
                <a:path w="200025" h="114300">
                  <a:moveTo>
                    <a:pt x="0" y="71438"/>
                  </a:moveTo>
                  <a:lnTo>
                    <a:pt x="0" y="42862"/>
                  </a:lnTo>
                  <a:lnTo>
                    <a:pt x="100012" y="0"/>
                  </a:lnTo>
                  <a:lnTo>
                    <a:pt x="200025" y="42862"/>
                  </a:lnTo>
                  <a:lnTo>
                    <a:pt x="200025" y="71438"/>
                  </a:lnTo>
                  <a:lnTo>
                    <a:pt x="100012" y="114300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338888" y="1833562"/>
              <a:ext cx="200025" cy="71438"/>
            </a:xfrm>
            <a:custGeom>
              <a:avLst/>
              <a:gdLst/>
              <a:ahLst/>
              <a:cxnLst/>
              <a:rect l="l" t="t" r="r" b="b"/>
              <a:pathLst>
                <a:path w="200025" h="71438">
                  <a:moveTo>
                    <a:pt x="100012" y="71438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100012" y="42862"/>
                  </a:lnTo>
                  <a:lnTo>
                    <a:pt x="200025" y="0"/>
                  </a:lnTo>
                  <a:lnTo>
                    <a:pt x="200025" y="28575"/>
                  </a:lnTo>
                  <a:lnTo>
                    <a:pt x="100012" y="71438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338888" y="1776412"/>
              <a:ext cx="200025" cy="71438"/>
            </a:xfrm>
            <a:custGeom>
              <a:avLst/>
              <a:gdLst/>
              <a:ahLst/>
              <a:cxnLst/>
              <a:rect l="l" t="t" r="r" b="b"/>
              <a:pathLst>
                <a:path w="200025" h="71438">
                  <a:moveTo>
                    <a:pt x="0" y="28575"/>
                  </a:moveTo>
                  <a:lnTo>
                    <a:pt x="100012" y="71438"/>
                  </a:lnTo>
                  <a:lnTo>
                    <a:pt x="200025" y="28575"/>
                  </a:lnTo>
                  <a:lnTo>
                    <a:pt x="200025" y="0"/>
                  </a:lnTo>
                  <a:lnTo>
                    <a:pt x="100012" y="42862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6644640" y="16725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项目总体技术边界</a:t>
            </a:r>
          </a:p>
        </p:txBody>
      </p:sp>
      <p:sp>
        <p:nvSpPr>
          <p:cNvPr id="35" name="Ellipse 35"/>
          <p:cNvSpPr/>
          <p:nvPr/>
        </p:nvSpPr>
        <p:spPr>
          <a:xfrm>
            <a:off x="6305550" y="21812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477000" y="2105025"/>
            <a:ext cx="34556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基础骨架：SD1.5 latent diffusion</a:t>
            </a:r>
          </a:p>
        </p:txBody>
      </p:sp>
      <p:sp>
        <p:nvSpPr>
          <p:cNvPr id="37" name="Ellipse 37"/>
          <p:cNvSpPr/>
          <p:nvPr/>
        </p:nvSpPr>
        <p:spPr>
          <a:xfrm>
            <a:off x="6305550" y="25812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477000" y="2505075"/>
            <a:ext cx="62707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视频能力：Streaming UNet + temporal attention + KV-cache</a:t>
            </a:r>
          </a:p>
        </p:txBody>
      </p:sp>
      <p:sp>
        <p:nvSpPr>
          <p:cNvPr id="39" name="Ellipse 39"/>
          <p:cNvSpPr/>
          <p:nvPr/>
        </p:nvSpPr>
        <p:spPr>
          <a:xfrm>
            <a:off x="6305550" y="29813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477000" y="2905125"/>
            <a:ext cx="54163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实时性：LCM few-step + denoising batch + 加速后端</a:t>
            </a:r>
          </a:p>
        </p:txBody>
      </p:sp>
      <p:sp>
        <p:nvSpPr>
          <p:cNvPr id="41" name="Ellipse 41"/>
          <p:cNvSpPr/>
          <p:nvPr/>
        </p:nvSpPr>
        <p:spPr>
          <a:xfrm>
            <a:off x="6305550" y="33813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477000" y="330517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结构稳定：MiDaS 深度先验</a:t>
            </a:r>
          </a:p>
        </p:txBody>
      </p:sp>
      <p:sp>
        <p:nvSpPr>
          <p:cNvPr id="43" name="Ellipse 43"/>
          <p:cNvSpPr/>
          <p:nvPr/>
        </p:nvSpPr>
        <p:spPr>
          <a:xfrm>
            <a:off x="6305550" y="37814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477000" y="3705225"/>
            <a:ext cx="56683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风格表达：prompt、DreamBooth、LoRA 等外部风格资源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571500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04800"/>
                </a:lnTo>
                <a:cubicBezTo>
                  <a:pt x="11049000" y="346884"/>
                  <a:pt x="11014884" y="381000"/>
                  <a:pt x="10972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EEF5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44855" y="5816918"/>
            <a:ext cx="82842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结论：Live2Diff 的价值不是“已经会画水墨”，而是提供了一套成立的实时视频扩散底座。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3220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系统架构与单帧主链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78389" y="2924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5858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系统在工程上可拆为四层，单帧推理则由 latent、depth、UNet、scheduler 串成闭环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9570" y="6522720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数据来源：项目讲稿整理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93067" y="652272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研究定位与系统理解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1524000"/>
            <a:ext cx="2286000" cy="1333500"/>
          </a:xfrm>
          <a:custGeom>
            <a:avLst/>
            <a:gdLst/>
            <a:ahLst/>
            <a:cxnLst/>
            <a:rect l="l" t="t" r="r" b="b"/>
            <a:pathLst>
              <a:path w="2286000" h="1333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257300"/>
                </a:lnTo>
                <a:cubicBezTo>
                  <a:pt x="2286000" y="1299384"/>
                  <a:pt x="2251884" y="1333500"/>
                  <a:pt x="2209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762000" y="1524000"/>
            <a:ext cx="2286000" cy="1333500"/>
          </a:xfrm>
          <a:custGeom>
            <a:avLst/>
            <a:gdLst/>
            <a:ahLst/>
            <a:cxnLst/>
            <a:rect l="l" t="t" r="r" b="b"/>
            <a:pathLst>
              <a:path w="2286000" h="1333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257300"/>
                </a:lnTo>
                <a:cubicBezTo>
                  <a:pt x="2286000" y="1299384"/>
                  <a:pt x="2251884" y="1333500"/>
                  <a:pt x="2209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981075" y="1752600"/>
            <a:ext cx="171451" cy="228600"/>
            <a:chOff x="981075" y="1752600"/>
            <a:chExt cx="171451" cy="228600"/>
          </a:xfrm>
        </p:grpSpPr>
        <p:sp>
          <p:nvSpPr>
            <p:cNvPr id="16" name="Freeform 16"/>
            <p:cNvSpPr/>
            <p:nvPr/>
          </p:nvSpPr>
          <p:spPr>
            <a:xfrm>
              <a:off x="981075" y="175260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7143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71450" y="228600"/>
                  </a:lnTo>
                  <a:lnTo>
                    <a:pt x="171450" y="100012"/>
                  </a:lnTo>
                  <a:lnTo>
                    <a:pt x="71438" y="100012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81088" y="1752600"/>
              <a:ext cx="71438" cy="71438"/>
            </a:xfrm>
            <a:custGeom>
              <a:avLst/>
              <a:gdLst/>
              <a:ahLst/>
              <a:cxnLst/>
              <a:rect l="l" t="t" r="r" b="b"/>
              <a:pathLst>
                <a:path w="71438" h="71438">
                  <a:moveTo>
                    <a:pt x="0" y="0"/>
                  </a:moveTo>
                  <a:lnTo>
                    <a:pt x="0" y="71438"/>
                  </a:lnTo>
                  <a:lnTo>
                    <a:pt x="71438" y="71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72540" y="17487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入口层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355" y="215931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离线脚本、在线 demo、配置系统</a:t>
            </a:r>
          </a:p>
        </p:txBody>
      </p:sp>
      <p:sp>
        <p:nvSpPr>
          <p:cNvPr id="21" name="Freeform 21"/>
          <p:cNvSpPr/>
          <p:nvPr/>
        </p:nvSpPr>
        <p:spPr>
          <a:xfrm>
            <a:off x="3571875" y="1524000"/>
            <a:ext cx="2286000" cy="1333500"/>
          </a:xfrm>
          <a:custGeom>
            <a:avLst/>
            <a:gdLst/>
            <a:ahLst/>
            <a:cxnLst/>
            <a:rect l="l" t="t" r="r" b="b"/>
            <a:pathLst>
              <a:path w="2286000" h="1333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257300"/>
                </a:lnTo>
                <a:cubicBezTo>
                  <a:pt x="2286000" y="1299384"/>
                  <a:pt x="2251884" y="1333500"/>
                  <a:pt x="2209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3571875" y="1524000"/>
            <a:ext cx="2286000" cy="1333500"/>
          </a:xfrm>
          <a:custGeom>
            <a:avLst/>
            <a:gdLst/>
            <a:ahLst/>
            <a:cxnLst/>
            <a:rect l="l" t="t" r="r" b="b"/>
            <a:pathLst>
              <a:path w="2286000" h="1333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257300"/>
                </a:lnTo>
                <a:cubicBezTo>
                  <a:pt x="2286000" y="1299384"/>
                  <a:pt x="2251884" y="1333500"/>
                  <a:pt x="2209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3776662" y="1752600"/>
            <a:ext cx="200025" cy="228600"/>
            <a:chOff x="3776662" y="1752600"/>
            <a:chExt cx="200025" cy="228600"/>
          </a:xfrm>
        </p:grpSpPr>
        <p:sp>
          <p:nvSpPr>
            <p:cNvPr id="23" name="Freeform 23"/>
            <p:cNvSpPr/>
            <p:nvPr/>
          </p:nvSpPr>
          <p:spPr>
            <a:xfrm>
              <a:off x="3776662" y="1752600"/>
              <a:ext cx="200025" cy="114300"/>
            </a:xfrm>
            <a:custGeom>
              <a:avLst/>
              <a:gdLst/>
              <a:ahLst/>
              <a:cxnLst/>
              <a:rect l="l" t="t" r="r" b="b"/>
              <a:pathLst>
                <a:path w="200025" h="114300">
                  <a:moveTo>
                    <a:pt x="0" y="71438"/>
                  </a:moveTo>
                  <a:lnTo>
                    <a:pt x="0" y="42862"/>
                  </a:lnTo>
                  <a:lnTo>
                    <a:pt x="100012" y="0"/>
                  </a:lnTo>
                  <a:lnTo>
                    <a:pt x="200025" y="42862"/>
                  </a:lnTo>
                  <a:lnTo>
                    <a:pt x="200025" y="71438"/>
                  </a:lnTo>
                  <a:lnTo>
                    <a:pt x="100012" y="114300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776662" y="1909762"/>
              <a:ext cx="200025" cy="71438"/>
            </a:xfrm>
            <a:custGeom>
              <a:avLst/>
              <a:gdLst/>
              <a:ahLst/>
              <a:cxnLst/>
              <a:rect l="l" t="t" r="r" b="b"/>
              <a:pathLst>
                <a:path w="200025" h="71438">
                  <a:moveTo>
                    <a:pt x="100012" y="71438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100012" y="42862"/>
                  </a:lnTo>
                  <a:lnTo>
                    <a:pt x="200025" y="0"/>
                  </a:lnTo>
                  <a:lnTo>
                    <a:pt x="200025" y="28575"/>
                  </a:lnTo>
                  <a:lnTo>
                    <a:pt x="100012" y="71438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776662" y="1852612"/>
              <a:ext cx="200025" cy="71438"/>
            </a:xfrm>
            <a:custGeom>
              <a:avLst/>
              <a:gdLst/>
              <a:ahLst/>
              <a:cxnLst/>
              <a:rect l="l" t="t" r="r" b="b"/>
              <a:pathLst>
                <a:path w="200025" h="71438">
                  <a:moveTo>
                    <a:pt x="0" y="28575"/>
                  </a:moveTo>
                  <a:lnTo>
                    <a:pt x="100012" y="71438"/>
                  </a:lnTo>
                  <a:lnTo>
                    <a:pt x="200025" y="28575"/>
                  </a:lnTo>
                  <a:lnTo>
                    <a:pt x="200025" y="0"/>
                  </a:lnTo>
                  <a:lnTo>
                    <a:pt x="100012" y="42862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4082415" y="17487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组装层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45230" y="2159318"/>
            <a:ext cx="34945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wrapper 组装模型、LoRA、缓存与后端</a:t>
            </a:r>
          </a:p>
        </p:txBody>
      </p:sp>
      <p:sp>
        <p:nvSpPr>
          <p:cNvPr id="29" name="Freeform 29"/>
          <p:cNvSpPr/>
          <p:nvPr/>
        </p:nvSpPr>
        <p:spPr>
          <a:xfrm>
            <a:off x="6381750" y="1524000"/>
            <a:ext cx="2286000" cy="1333500"/>
          </a:xfrm>
          <a:custGeom>
            <a:avLst/>
            <a:gdLst/>
            <a:ahLst/>
            <a:cxnLst/>
            <a:rect l="l" t="t" r="r" b="b"/>
            <a:pathLst>
              <a:path w="2286000" h="1333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257300"/>
                </a:lnTo>
                <a:cubicBezTo>
                  <a:pt x="2286000" y="1299384"/>
                  <a:pt x="2251884" y="1333500"/>
                  <a:pt x="2209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6381750" y="1524000"/>
            <a:ext cx="2286000" cy="1333500"/>
          </a:xfrm>
          <a:custGeom>
            <a:avLst/>
            <a:gdLst/>
            <a:ahLst/>
            <a:cxnLst/>
            <a:rect l="l" t="t" r="r" b="b"/>
            <a:pathLst>
              <a:path w="2286000" h="1333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257300"/>
                </a:lnTo>
                <a:cubicBezTo>
                  <a:pt x="2286000" y="1299384"/>
                  <a:pt x="2251884" y="1333500"/>
                  <a:pt x="2209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6572250" y="1752600"/>
            <a:ext cx="228600" cy="228600"/>
            <a:chOff x="6572250" y="1752600"/>
            <a:chExt cx="228600" cy="228600"/>
          </a:xfrm>
        </p:grpSpPr>
        <p:sp>
          <p:nvSpPr>
            <p:cNvPr id="31" name="Freeform 31"/>
            <p:cNvSpPr/>
            <p:nvPr/>
          </p:nvSpPr>
          <p:spPr>
            <a:xfrm>
              <a:off x="6657975" y="18383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57150"/>
                  </a:moveTo>
                  <a:lnTo>
                    <a:pt x="0" y="0"/>
                  </a:ln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572250" y="1752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42862" y="28575"/>
                  </a:moveTo>
                  <a:lnTo>
                    <a:pt x="42862" y="0"/>
                  </a:lnTo>
                  <a:lnTo>
                    <a:pt x="71438" y="0"/>
                  </a:lnTo>
                  <a:lnTo>
                    <a:pt x="71438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lnTo>
                    <a:pt x="128588" y="28575"/>
                  </a:lnTo>
                  <a:lnTo>
                    <a:pt x="157162" y="28575"/>
                  </a:lnTo>
                  <a:lnTo>
                    <a:pt x="157162" y="0"/>
                  </a:lnTo>
                  <a:lnTo>
                    <a:pt x="185738" y="0"/>
                  </a:lnTo>
                  <a:lnTo>
                    <a:pt x="185738" y="28575"/>
                  </a:lnTo>
                  <a:lnTo>
                    <a:pt x="200025" y="28575"/>
                  </a:lnTo>
                  <a:lnTo>
                    <a:pt x="200025" y="42862"/>
                  </a:lnTo>
                  <a:lnTo>
                    <a:pt x="228600" y="42862"/>
                  </a:lnTo>
                  <a:lnTo>
                    <a:pt x="228600" y="71438"/>
                  </a:lnTo>
                  <a:lnTo>
                    <a:pt x="200025" y="71438"/>
                  </a:lnTo>
                  <a:lnTo>
                    <a:pt x="200025" y="100012"/>
                  </a:lnTo>
                  <a:lnTo>
                    <a:pt x="228600" y="100012"/>
                  </a:lnTo>
                  <a:lnTo>
                    <a:pt x="228600" y="128588"/>
                  </a:lnTo>
                  <a:lnTo>
                    <a:pt x="200025" y="128588"/>
                  </a:lnTo>
                  <a:lnTo>
                    <a:pt x="200025" y="157162"/>
                  </a:lnTo>
                  <a:lnTo>
                    <a:pt x="228600" y="157162"/>
                  </a:lnTo>
                  <a:lnTo>
                    <a:pt x="228600" y="185738"/>
                  </a:lnTo>
                  <a:lnTo>
                    <a:pt x="200025" y="185738"/>
                  </a:lnTo>
                  <a:lnTo>
                    <a:pt x="200025" y="200025"/>
                  </a:lnTo>
                  <a:lnTo>
                    <a:pt x="185738" y="200025"/>
                  </a:lnTo>
                  <a:lnTo>
                    <a:pt x="185738" y="228600"/>
                  </a:lnTo>
                  <a:lnTo>
                    <a:pt x="157162" y="228600"/>
                  </a:lnTo>
                  <a:lnTo>
                    <a:pt x="157162" y="200025"/>
                  </a:lnTo>
                  <a:lnTo>
                    <a:pt x="128588" y="200025"/>
                  </a:lnTo>
                  <a:lnTo>
                    <a:pt x="128588" y="228600"/>
                  </a:lnTo>
                  <a:lnTo>
                    <a:pt x="100012" y="228600"/>
                  </a:lnTo>
                  <a:lnTo>
                    <a:pt x="100012" y="200025"/>
                  </a:lnTo>
                  <a:lnTo>
                    <a:pt x="71438" y="200025"/>
                  </a:lnTo>
                  <a:lnTo>
                    <a:pt x="71438" y="228600"/>
                  </a:lnTo>
                  <a:lnTo>
                    <a:pt x="42862" y="228600"/>
                  </a:lnTo>
                  <a:lnTo>
                    <a:pt x="42862" y="200025"/>
                  </a:lnTo>
                  <a:lnTo>
                    <a:pt x="28575" y="200025"/>
                  </a:lnTo>
                  <a:lnTo>
                    <a:pt x="28575" y="185738"/>
                  </a:lnTo>
                  <a:lnTo>
                    <a:pt x="0" y="185738"/>
                  </a:lnTo>
                  <a:lnTo>
                    <a:pt x="0" y="157162"/>
                  </a:lnTo>
                  <a:lnTo>
                    <a:pt x="28575" y="157162"/>
                  </a:lnTo>
                  <a:lnTo>
                    <a:pt x="28575" y="128588"/>
                  </a:lnTo>
                  <a:lnTo>
                    <a:pt x="0" y="128588"/>
                  </a:lnTo>
                  <a:lnTo>
                    <a:pt x="0" y="100012"/>
                  </a:lnTo>
                  <a:lnTo>
                    <a:pt x="28575" y="100012"/>
                  </a:lnTo>
                  <a:lnTo>
                    <a:pt x="28575" y="71438"/>
                  </a:lnTo>
                  <a:lnTo>
                    <a:pt x="0" y="71438"/>
                  </a:lnTo>
                  <a:lnTo>
                    <a:pt x="0" y="42862"/>
                  </a:lnTo>
                  <a:lnTo>
                    <a:pt x="28575" y="42862"/>
                  </a:lnTo>
                  <a:lnTo>
                    <a:pt x="28575" y="28575"/>
                  </a:lnTo>
                  <a:lnTo>
                    <a:pt x="42862" y="28575"/>
                  </a:lnTo>
                  <a:close/>
                  <a:moveTo>
                    <a:pt x="57150" y="57150"/>
                  </a:moveTo>
                  <a:lnTo>
                    <a:pt x="57150" y="171450"/>
                  </a:lnTo>
                  <a:lnTo>
                    <a:pt x="171450" y="171450"/>
                  </a:lnTo>
                  <a:lnTo>
                    <a:pt x="171450" y="57150"/>
                  </a:lnTo>
                  <a:lnTo>
                    <a:pt x="57150" y="5715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6892290" y="17487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推理层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55105" y="2159318"/>
            <a:ext cx="51803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StreamAnimateDiffusionDepth 负责 warmup 与单帧推理</a:t>
            </a:r>
          </a:p>
        </p:txBody>
      </p:sp>
      <p:sp>
        <p:nvSpPr>
          <p:cNvPr id="36" name="Freeform 36"/>
          <p:cNvSpPr/>
          <p:nvPr/>
        </p:nvSpPr>
        <p:spPr>
          <a:xfrm>
            <a:off x="9191625" y="1524000"/>
            <a:ext cx="2286000" cy="1333500"/>
          </a:xfrm>
          <a:custGeom>
            <a:avLst/>
            <a:gdLst/>
            <a:ahLst/>
            <a:cxnLst/>
            <a:rect l="l" t="t" r="r" b="b"/>
            <a:pathLst>
              <a:path w="2286000" h="1333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257300"/>
                </a:lnTo>
                <a:cubicBezTo>
                  <a:pt x="2286000" y="1299384"/>
                  <a:pt x="2251884" y="1333500"/>
                  <a:pt x="2209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9191625" y="1524000"/>
            <a:ext cx="2286000" cy="1333500"/>
          </a:xfrm>
          <a:custGeom>
            <a:avLst/>
            <a:gdLst/>
            <a:ahLst/>
            <a:cxnLst/>
            <a:rect l="l" t="t" r="r" b="b"/>
            <a:pathLst>
              <a:path w="2286000" h="1333500">
                <a:moveTo>
                  <a:pt x="76200" y="0"/>
                </a:moveTo>
                <a:lnTo>
                  <a:pt x="2209800" y="0"/>
                </a:lnTo>
                <a:cubicBezTo>
                  <a:pt x="2251884" y="0"/>
                  <a:pt x="2286000" y="34116"/>
                  <a:pt x="2286000" y="76200"/>
                </a:cubicBezTo>
                <a:lnTo>
                  <a:pt x="2286000" y="1257300"/>
                </a:lnTo>
                <a:cubicBezTo>
                  <a:pt x="2286000" y="1299384"/>
                  <a:pt x="2251884" y="1333500"/>
                  <a:pt x="2209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38" name="Freeform 38"/>
          <p:cNvSpPr/>
          <p:nvPr/>
        </p:nvSpPr>
        <p:spPr>
          <a:xfrm>
            <a:off x="9382125" y="1766888"/>
            <a:ext cx="228600" cy="185738"/>
          </a:xfrm>
          <a:custGeom>
            <a:avLst/>
            <a:gdLst/>
            <a:ahLst/>
            <a:cxnLst/>
            <a:rect l="l" t="t" r="r" b="b"/>
            <a:pathLst>
              <a:path w="228600" h="185738">
                <a:moveTo>
                  <a:pt x="25069" y="185738"/>
                </a:moveTo>
                <a:cubicBezTo>
                  <a:pt x="9383" y="166169"/>
                  <a:pt x="0" y="141331"/>
                  <a:pt x="0" y="114300"/>
                </a:cubicBezTo>
                <a:cubicBezTo>
                  <a:pt x="0" y="51174"/>
                  <a:pt x="51174" y="0"/>
                  <a:pt x="114300" y="0"/>
                </a:cubicBezTo>
                <a:cubicBezTo>
                  <a:pt x="177426" y="0"/>
                  <a:pt x="228600" y="51174"/>
                  <a:pt x="228600" y="114300"/>
                </a:cubicBezTo>
                <a:cubicBezTo>
                  <a:pt x="228600" y="141331"/>
                  <a:pt x="219217" y="166169"/>
                  <a:pt x="203531" y="185738"/>
                </a:cubicBezTo>
                <a:lnTo>
                  <a:pt x="131469" y="185738"/>
                </a:lnTo>
                <a:lnTo>
                  <a:pt x="181941" y="131144"/>
                </a:lnTo>
                <a:lnTo>
                  <a:pt x="160959" y="111745"/>
                </a:lnTo>
                <a:lnTo>
                  <a:pt x="92554" y="185738"/>
                </a:lnTo>
                <a:lnTo>
                  <a:pt x="25069" y="185738"/>
                </a:lnTo>
                <a:close/>
                <a:moveTo>
                  <a:pt x="100012" y="42862"/>
                </a:moveTo>
                <a:cubicBezTo>
                  <a:pt x="100012" y="50753"/>
                  <a:pt x="106409" y="57150"/>
                  <a:pt x="114300" y="57150"/>
                </a:cubicBezTo>
                <a:cubicBezTo>
                  <a:pt x="122191" y="57150"/>
                  <a:pt x="128588" y="50753"/>
                  <a:pt x="128588" y="42862"/>
                </a:cubicBezTo>
                <a:cubicBezTo>
                  <a:pt x="128588" y="34972"/>
                  <a:pt x="122191" y="28575"/>
                  <a:pt x="114300" y="28575"/>
                </a:cubicBezTo>
                <a:cubicBezTo>
                  <a:pt x="106409" y="28575"/>
                  <a:pt x="100012" y="34972"/>
                  <a:pt x="100012" y="42862"/>
                </a:cubicBezTo>
                <a:close/>
                <a:moveTo>
                  <a:pt x="164306" y="78581"/>
                </a:moveTo>
                <a:cubicBezTo>
                  <a:pt x="156415" y="78581"/>
                  <a:pt x="150019" y="72184"/>
                  <a:pt x="150019" y="64294"/>
                </a:cubicBezTo>
                <a:cubicBezTo>
                  <a:pt x="150019" y="56403"/>
                  <a:pt x="156415" y="50006"/>
                  <a:pt x="164306" y="50006"/>
                </a:cubicBezTo>
                <a:cubicBezTo>
                  <a:pt x="172197" y="50006"/>
                  <a:pt x="178594" y="56403"/>
                  <a:pt x="178594" y="64294"/>
                </a:cubicBezTo>
                <a:cubicBezTo>
                  <a:pt x="178594" y="72184"/>
                  <a:pt x="172197" y="78581"/>
                  <a:pt x="164306" y="78581"/>
                </a:cubicBezTo>
                <a:close/>
                <a:moveTo>
                  <a:pt x="28575" y="114300"/>
                </a:moveTo>
                <a:cubicBezTo>
                  <a:pt x="28575" y="122191"/>
                  <a:pt x="34972" y="128588"/>
                  <a:pt x="42862" y="128588"/>
                </a:cubicBezTo>
                <a:cubicBezTo>
                  <a:pt x="50753" y="128588"/>
                  <a:pt x="57150" y="122191"/>
                  <a:pt x="57150" y="114300"/>
                </a:cubicBezTo>
                <a:cubicBezTo>
                  <a:pt x="57150" y="106409"/>
                  <a:pt x="50753" y="100012"/>
                  <a:pt x="42862" y="100012"/>
                </a:cubicBezTo>
                <a:cubicBezTo>
                  <a:pt x="34972" y="100012"/>
                  <a:pt x="28575" y="106409"/>
                  <a:pt x="28575" y="114300"/>
                </a:cubicBezTo>
                <a:close/>
                <a:moveTo>
                  <a:pt x="64294" y="78581"/>
                </a:moveTo>
                <a:cubicBezTo>
                  <a:pt x="56403" y="78581"/>
                  <a:pt x="50006" y="72184"/>
                  <a:pt x="50006" y="64294"/>
                </a:cubicBezTo>
                <a:cubicBezTo>
                  <a:pt x="50006" y="56403"/>
                  <a:pt x="56403" y="50006"/>
                  <a:pt x="64294" y="50006"/>
                </a:cubicBezTo>
                <a:cubicBezTo>
                  <a:pt x="72185" y="50006"/>
                  <a:pt x="78581" y="56403"/>
                  <a:pt x="78581" y="64294"/>
                </a:cubicBezTo>
                <a:cubicBezTo>
                  <a:pt x="78581" y="72184"/>
                  <a:pt x="72185" y="78581"/>
                  <a:pt x="64294" y="7858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702165" y="17487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加速层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64980" y="2159318"/>
            <a:ext cx="41550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TinyVAE、TensorRT、xformers 负责执行替换</a:t>
            </a:r>
          </a:p>
        </p:txBody>
      </p:sp>
      <p:sp>
        <p:nvSpPr>
          <p:cNvPr id="41" name="Line 41"/>
          <p:cNvSpPr/>
          <p:nvPr/>
        </p:nvSpPr>
        <p:spPr>
          <a:xfrm>
            <a:off x="3048000" y="219075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42" name="Polygon 42"/>
          <p:cNvSpPr/>
          <p:nvPr/>
        </p:nvSpPr>
        <p:spPr>
          <a:xfrm>
            <a:off x="3305175" y="21336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43" name="Line 43"/>
          <p:cNvSpPr/>
          <p:nvPr/>
        </p:nvSpPr>
        <p:spPr>
          <a:xfrm>
            <a:off x="5857875" y="219075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115050" y="21336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45" name="Line 45"/>
          <p:cNvSpPr/>
          <p:nvPr/>
        </p:nvSpPr>
        <p:spPr>
          <a:xfrm>
            <a:off x="8667750" y="219075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8924925" y="21336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762000" y="3714750"/>
            <a:ext cx="1714500" cy="914400"/>
          </a:xfrm>
          <a:custGeom>
            <a:avLst/>
            <a:gdLst/>
            <a:ahLst/>
            <a:cxnLst/>
            <a:rect l="l" t="t" r="r" b="b"/>
            <a:pathLst>
              <a:path w="1714500" h="914400">
                <a:moveTo>
                  <a:pt x="76200" y="0"/>
                </a:moveTo>
                <a:lnTo>
                  <a:pt x="1638300" y="0"/>
                </a:lnTo>
                <a:cubicBezTo>
                  <a:pt x="1680384" y="0"/>
                  <a:pt x="1714500" y="34116"/>
                  <a:pt x="1714500" y="76200"/>
                </a:cubicBezTo>
                <a:lnTo>
                  <a:pt x="1714500" y="838200"/>
                </a:lnTo>
                <a:cubicBezTo>
                  <a:pt x="1714500" y="880284"/>
                  <a:pt x="1680384" y="914400"/>
                  <a:pt x="16383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762000" y="3714750"/>
            <a:ext cx="1714500" cy="914400"/>
          </a:xfrm>
          <a:custGeom>
            <a:avLst/>
            <a:gdLst/>
            <a:ahLst/>
            <a:cxnLst/>
            <a:rect l="l" t="t" r="r" b="b"/>
            <a:pathLst>
              <a:path w="1714500" h="914400">
                <a:moveTo>
                  <a:pt x="76200" y="0"/>
                </a:moveTo>
                <a:lnTo>
                  <a:pt x="1638300" y="0"/>
                </a:lnTo>
                <a:cubicBezTo>
                  <a:pt x="1680384" y="0"/>
                  <a:pt x="1714500" y="34116"/>
                  <a:pt x="1714500" y="76200"/>
                </a:cubicBezTo>
                <a:lnTo>
                  <a:pt x="1714500" y="838200"/>
                </a:lnTo>
                <a:cubicBezTo>
                  <a:pt x="1714500" y="880284"/>
                  <a:pt x="1680384" y="914400"/>
                  <a:pt x="16383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182338" y="38823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输入帧</a:t>
            </a:r>
          </a:p>
        </p:txBody>
      </p:sp>
      <p:sp>
        <p:nvSpPr>
          <p:cNvPr id="50" name="Freeform 50"/>
          <p:cNvSpPr/>
          <p:nvPr/>
        </p:nvSpPr>
        <p:spPr>
          <a:xfrm>
            <a:off x="2857500" y="371475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838200"/>
                </a:lnTo>
                <a:cubicBezTo>
                  <a:pt x="1905000" y="880284"/>
                  <a:pt x="1870884" y="914400"/>
                  <a:pt x="18288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" name="Freeform 51"/>
          <p:cNvSpPr/>
          <p:nvPr/>
        </p:nvSpPr>
        <p:spPr>
          <a:xfrm>
            <a:off x="2857500" y="371475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838200"/>
                </a:lnTo>
                <a:cubicBezTo>
                  <a:pt x="1905000" y="880284"/>
                  <a:pt x="1870884" y="914400"/>
                  <a:pt x="18288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3097054" y="3882390"/>
            <a:ext cx="14258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RGB latent</a:t>
            </a:r>
          </a:p>
        </p:txBody>
      </p:sp>
      <p:sp>
        <p:nvSpPr>
          <p:cNvPr id="53" name="Freeform 53"/>
          <p:cNvSpPr/>
          <p:nvPr/>
        </p:nvSpPr>
        <p:spPr>
          <a:xfrm>
            <a:off x="5143500" y="371475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838200"/>
                </a:lnTo>
                <a:cubicBezTo>
                  <a:pt x="1905000" y="880284"/>
                  <a:pt x="1870884" y="914400"/>
                  <a:pt x="18288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" name="Freeform 54"/>
          <p:cNvSpPr/>
          <p:nvPr/>
        </p:nvSpPr>
        <p:spPr>
          <a:xfrm>
            <a:off x="5143500" y="371475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838200"/>
                </a:lnTo>
                <a:cubicBezTo>
                  <a:pt x="1905000" y="880284"/>
                  <a:pt x="1870884" y="914400"/>
                  <a:pt x="18288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231235" y="3882390"/>
            <a:ext cx="17295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depth latent</a:t>
            </a:r>
          </a:p>
        </p:txBody>
      </p:sp>
      <p:sp>
        <p:nvSpPr>
          <p:cNvPr id="56" name="Freeform 56"/>
          <p:cNvSpPr/>
          <p:nvPr/>
        </p:nvSpPr>
        <p:spPr>
          <a:xfrm>
            <a:off x="7429500" y="3714750"/>
            <a:ext cx="2095500" cy="914400"/>
          </a:xfrm>
          <a:custGeom>
            <a:avLst/>
            <a:gdLst/>
            <a:ahLst/>
            <a:cxnLst/>
            <a:rect l="l" t="t" r="r" b="b"/>
            <a:pathLst>
              <a:path w="2095500" h="9144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38200"/>
                </a:lnTo>
                <a:cubicBezTo>
                  <a:pt x="2095500" y="880284"/>
                  <a:pt x="2061384" y="914400"/>
                  <a:pt x="20193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" name="Freeform 57"/>
          <p:cNvSpPr/>
          <p:nvPr/>
        </p:nvSpPr>
        <p:spPr>
          <a:xfrm>
            <a:off x="7429500" y="3714750"/>
            <a:ext cx="2095500" cy="914400"/>
          </a:xfrm>
          <a:custGeom>
            <a:avLst/>
            <a:gdLst/>
            <a:ahLst/>
            <a:cxnLst/>
            <a:rect l="l" t="t" r="r" b="b"/>
            <a:pathLst>
              <a:path w="2095500" h="9144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838200"/>
                </a:lnTo>
                <a:cubicBezTo>
                  <a:pt x="2095500" y="880284"/>
                  <a:pt x="2061384" y="914400"/>
                  <a:pt x="20193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7433062" y="3882390"/>
            <a:ext cx="20883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Streaming UNet</a:t>
            </a:r>
          </a:p>
        </p:txBody>
      </p:sp>
      <p:sp>
        <p:nvSpPr>
          <p:cNvPr id="59" name="Freeform 59"/>
          <p:cNvSpPr/>
          <p:nvPr/>
        </p:nvSpPr>
        <p:spPr>
          <a:xfrm>
            <a:off x="9906000" y="3714750"/>
            <a:ext cx="1524000" cy="914400"/>
          </a:xfrm>
          <a:custGeom>
            <a:avLst/>
            <a:gdLst/>
            <a:ahLst/>
            <a:cxnLst/>
            <a:rect l="l" t="t" r="r" b="b"/>
            <a:pathLst>
              <a:path w="1524000" h="9144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838200"/>
                </a:lnTo>
                <a:cubicBezTo>
                  <a:pt x="1524000" y="880284"/>
                  <a:pt x="1489884" y="914400"/>
                  <a:pt x="14478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9906000" y="3714750"/>
            <a:ext cx="1524000" cy="914400"/>
          </a:xfrm>
          <a:custGeom>
            <a:avLst/>
            <a:gdLst/>
            <a:ahLst/>
            <a:cxnLst/>
            <a:rect l="l" t="t" r="r" b="b"/>
            <a:pathLst>
              <a:path w="1524000" h="9144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838200"/>
                </a:lnTo>
                <a:cubicBezTo>
                  <a:pt x="1524000" y="880284"/>
                  <a:pt x="1489884" y="914400"/>
                  <a:pt x="1447800" y="914400"/>
                </a:cubicBezTo>
                <a:lnTo>
                  <a:pt x="76200" y="914400"/>
                </a:lnTo>
                <a:cubicBezTo>
                  <a:pt x="34116" y="914400"/>
                  <a:pt x="0" y="880284"/>
                  <a:pt x="0" y="838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0072368" y="3882390"/>
            <a:ext cx="11912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LCM 调度</a:t>
            </a:r>
          </a:p>
        </p:txBody>
      </p:sp>
      <p:sp>
        <p:nvSpPr>
          <p:cNvPr id="62" name="Line 62"/>
          <p:cNvSpPr/>
          <p:nvPr/>
        </p:nvSpPr>
        <p:spPr>
          <a:xfrm>
            <a:off x="2476500" y="417195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63" name="Polygon 63"/>
          <p:cNvSpPr/>
          <p:nvPr/>
        </p:nvSpPr>
        <p:spPr>
          <a:xfrm>
            <a:off x="2705100" y="4114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64" name="Line 64"/>
          <p:cNvSpPr/>
          <p:nvPr/>
        </p:nvSpPr>
        <p:spPr>
          <a:xfrm>
            <a:off x="4762500" y="417195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65" name="Polygon 65"/>
          <p:cNvSpPr/>
          <p:nvPr/>
        </p:nvSpPr>
        <p:spPr>
          <a:xfrm>
            <a:off x="4991100" y="4114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66" name="Line 66"/>
          <p:cNvSpPr/>
          <p:nvPr/>
        </p:nvSpPr>
        <p:spPr>
          <a:xfrm>
            <a:off x="7048500" y="417195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67" name="Polygon 67"/>
          <p:cNvSpPr/>
          <p:nvPr/>
        </p:nvSpPr>
        <p:spPr>
          <a:xfrm>
            <a:off x="7277100" y="4114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68" name="Line 68"/>
          <p:cNvSpPr/>
          <p:nvPr/>
        </p:nvSpPr>
        <p:spPr>
          <a:xfrm>
            <a:off x="9525000" y="4171950"/>
            <a:ext cx="304800" cy="9525"/>
          </a:xfrm>
          <a:custGeom>
            <a:avLst/>
            <a:gdLst/>
            <a:ahLst/>
            <a:cxnLst/>
            <a:rect l="l" t="t" r="r" b="b"/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69" name="Polygon 69"/>
          <p:cNvSpPr/>
          <p:nvPr/>
        </p:nvSpPr>
        <p:spPr>
          <a:xfrm>
            <a:off x="9753600" y="4114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0645140" y="41109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输出帧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40105" y="4997768"/>
            <a:ext cx="122192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核心表达：RGB_t -&gt; z_t；RGB_t -&gt; depth_t -&gt; d_t；(z_t, d_t, prompt, temporal state) -&gt; UNet -&gt; scheduler -&gt; z_0 -&gt; RGB_out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6B8A">
              <a:alpha val="2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183B5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7851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关键机制拆解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640" y="3710940"/>
            <a:ext cx="38576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解释实时性来源、UNet 中枢地位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6640" y="399669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以及缓存与结构条件机制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43D3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840647" y="6331268"/>
            <a:ext cx="39874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D9E3EE"/>
                </a:solidFill>
                <a:latin typeface="Arial"/>
                <a:ea typeface="Microsoft YaHei"/>
                <a:cs typeface="Arial"/>
              </a:rPr>
              <a:t>基于 Live2Diff 的实时水墨风格视频渲染研究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0805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实时性的真正来源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78389" y="2924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7379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实时性首先来自流式建模与少步采样，其次才是 TensorRT 之类的执行层优化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9570" y="6522720"/>
            <a:ext cx="18302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数据来源：Live2Diff 架构分析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关键机制拆解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14287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666750" y="14287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97255" y="1511618"/>
            <a:ext cx="16076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 单向时序注意力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7255" y="1721168"/>
            <a:ext cx="25186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把视频问题改写成流式问题</a:t>
            </a:r>
          </a:p>
        </p:txBody>
      </p:sp>
      <p:sp>
        <p:nvSpPr>
          <p:cNvPr id="18" name="Freeform 18"/>
          <p:cNvSpPr/>
          <p:nvPr/>
        </p:nvSpPr>
        <p:spPr>
          <a:xfrm>
            <a:off x="666750" y="21145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666750" y="21145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97255" y="2197418"/>
            <a:ext cx="9762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 warmup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7255" y="2406968"/>
            <a:ext cx="25186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正式推理前建立时序上下文</a:t>
            </a:r>
          </a:p>
        </p:txBody>
      </p:sp>
      <p:sp>
        <p:nvSpPr>
          <p:cNvPr id="22" name="Freeform 22"/>
          <p:cNvSpPr/>
          <p:nvPr/>
        </p:nvSpPr>
        <p:spPr>
          <a:xfrm>
            <a:off x="666750" y="28003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66750" y="28003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97255" y="2883218"/>
            <a:ext cx="11211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 KV-cache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7255" y="309276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避免每帧重算整段历史</a:t>
            </a:r>
          </a:p>
        </p:txBody>
      </p:sp>
      <p:sp>
        <p:nvSpPr>
          <p:cNvPr id="26" name="Freeform 26"/>
          <p:cNvSpPr/>
          <p:nvPr/>
        </p:nvSpPr>
        <p:spPr>
          <a:xfrm>
            <a:off x="666750" y="34861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66750" y="34861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97255" y="3569018"/>
            <a:ext cx="16076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4 LCM few-step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7255" y="377856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显著压缩每帧扩散步数</a:t>
            </a:r>
          </a:p>
        </p:txBody>
      </p:sp>
      <p:sp>
        <p:nvSpPr>
          <p:cNvPr id="30" name="Freeform 30"/>
          <p:cNvSpPr/>
          <p:nvPr/>
        </p:nvSpPr>
        <p:spPr>
          <a:xfrm>
            <a:off x="666750" y="41719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6FBF8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666750" y="41719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97255" y="4254818"/>
            <a:ext cx="16806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5 denoising batch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7255" y="446436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把多个去噪阶段并入一次前向</a:t>
            </a:r>
          </a:p>
        </p:txBody>
      </p:sp>
      <p:sp>
        <p:nvSpPr>
          <p:cNvPr id="34" name="Freeform 34"/>
          <p:cNvSpPr/>
          <p:nvPr/>
        </p:nvSpPr>
        <p:spPr>
          <a:xfrm>
            <a:off x="666750" y="48577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6FBF8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666750" y="4857750"/>
            <a:ext cx="4953000" cy="533400"/>
          </a:xfrm>
          <a:custGeom>
            <a:avLst/>
            <a:gdLst/>
            <a:ahLst/>
            <a:cxnLst/>
            <a:rect l="l" t="t" r="r" b="b"/>
            <a:pathLst>
              <a:path w="4953000" h="5334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57200"/>
                </a:lnTo>
                <a:cubicBezTo>
                  <a:pt x="4953000" y="499284"/>
                  <a:pt x="4918884" y="533400"/>
                  <a:pt x="4876800" y="533400"/>
                </a:cubicBezTo>
                <a:lnTo>
                  <a:pt x="76200" y="533400"/>
                </a:lnTo>
                <a:cubicBezTo>
                  <a:pt x="34116" y="533400"/>
                  <a:pt x="0" y="499284"/>
                  <a:pt x="0" y="457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97255" y="494061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6 TinyVAE / TensorRT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97255" y="515016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继续压执行时延</a:t>
            </a:r>
          </a:p>
        </p:txBody>
      </p:sp>
      <p:sp>
        <p:nvSpPr>
          <p:cNvPr id="38" name="Freeform 38"/>
          <p:cNvSpPr/>
          <p:nvPr/>
        </p:nvSpPr>
        <p:spPr>
          <a:xfrm>
            <a:off x="6191250" y="1524000"/>
            <a:ext cx="5143500" cy="1619250"/>
          </a:xfrm>
          <a:custGeom>
            <a:avLst/>
            <a:gdLst/>
            <a:ahLst/>
            <a:cxnLst/>
            <a:rect l="l" t="t" r="r" b="b"/>
            <a:pathLst>
              <a:path w="5143500" h="1619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543050"/>
                </a:lnTo>
                <a:cubicBezTo>
                  <a:pt x="5143500" y="1585134"/>
                  <a:pt x="5109384" y="1619250"/>
                  <a:pt x="5067300" y="1619250"/>
                </a:cubicBezTo>
                <a:lnTo>
                  <a:pt x="76200" y="1619250"/>
                </a:lnTo>
                <a:cubicBezTo>
                  <a:pt x="34116" y="1619250"/>
                  <a:pt x="0" y="1585134"/>
                  <a:pt x="0" y="1543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EEF5"/>
          </a:solidFill>
          <a:ln>
            <a:noFill/>
          </a:ln>
        </p:spPr>
      </p:sp>
      <p:sp>
        <p:nvSpPr>
          <p:cNvPr id="39" name="Freeform 39"/>
          <p:cNvSpPr/>
          <p:nvPr/>
        </p:nvSpPr>
        <p:spPr>
          <a:xfrm>
            <a:off x="6191250" y="1524000"/>
            <a:ext cx="5143500" cy="1619250"/>
          </a:xfrm>
          <a:custGeom>
            <a:avLst/>
            <a:gdLst/>
            <a:ahLst/>
            <a:cxnLst/>
            <a:rect l="l" t="t" r="r" b="b"/>
            <a:pathLst>
              <a:path w="5143500" h="1619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543050"/>
                </a:lnTo>
                <a:cubicBezTo>
                  <a:pt x="5143500" y="1585134"/>
                  <a:pt x="5109384" y="1619250"/>
                  <a:pt x="5067300" y="1619250"/>
                </a:cubicBezTo>
                <a:lnTo>
                  <a:pt x="76200" y="1619250"/>
                </a:lnTo>
                <a:cubicBezTo>
                  <a:pt x="34116" y="1619250"/>
                  <a:pt x="0" y="1585134"/>
                  <a:pt x="0" y="1543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454140" y="169164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决定系统能否进入实时区间</a:t>
            </a:r>
          </a:p>
        </p:txBody>
      </p:sp>
      <p:sp>
        <p:nvSpPr>
          <p:cNvPr id="41" name="Ellipse 41"/>
          <p:cNvSpPr/>
          <p:nvPr/>
        </p:nvSpPr>
        <p:spPr>
          <a:xfrm>
            <a:off x="6438900" y="21621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610350" y="20859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单向时序注意力</a:t>
            </a:r>
          </a:p>
        </p:txBody>
      </p:sp>
      <p:sp>
        <p:nvSpPr>
          <p:cNvPr id="43" name="Ellipse 43"/>
          <p:cNvSpPr/>
          <p:nvPr/>
        </p:nvSpPr>
        <p:spPr>
          <a:xfrm>
            <a:off x="6438900" y="24860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10350" y="2409825"/>
            <a:ext cx="84867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warmup</a:t>
            </a:r>
          </a:p>
        </p:txBody>
      </p:sp>
      <p:sp>
        <p:nvSpPr>
          <p:cNvPr id="45" name="Ellipse 45"/>
          <p:cNvSpPr/>
          <p:nvPr/>
        </p:nvSpPr>
        <p:spPr>
          <a:xfrm>
            <a:off x="6438900" y="28098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10350" y="2733675"/>
            <a:ext cx="10020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KV-cache</a:t>
            </a:r>
          </a:p>
        </p:txBody>
      </p:sp>
      <p:sp>
        <p:nvSpPr>
          <p:cNvPr id="47" name="Ellipse 47"/>
          <p:cNvSpPr/>
          <p:nvPr/>
        </p:nvSpPr>
        <p:spPr>
          <a:xfrm>
            <a:off x="6438900" y="31337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10350" y="3057525"/>
            <a:ext cx="15168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LCM few-step</a:t>
            </a:r>
          </a:p>
        </p:txBody>
      </p:sp>
      <p:sp>
        <p:nvSpPr>
          <p:cNvPr id="49" name="Freeform 49"/>
          <p:cNvSpPr/>
          <p:nvPr/>
        </p:nvSpPr>
        <p:spPr>
          <a:xfrm>
            <a:off x="6191250" y="35242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162050"/>
                </a:lnTo>
                <a:cubicBezTo>
                  <a:pt x="5143500" y="1204134"/>
                  <a:pt x="5109384" y="1238250"/>
                  <a:pt x="50673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6FBF8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6191250" y="35242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1162050"/>
                </a:lnTo>
                <a:cubicBezTo>
                  <a:pt x="5143500" y="1204134"/>
                  <a:pt x="5109384" y="1238250"/>
                  <a:pt x="50673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454140" y="3691890"/>
            <a:ext cx="3634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决定系统能否继续向部署靠近</a:t>
            </a:r>
          </a:p>
        </p:txBody>
      </p:sp>
      <p:sp>
        <p:nvSpPr>
          <p:cNvPr id="52" name="Ellipse 52"/>
          <p:cNvSpPr/>
          <p:nvPr/>
        </p:nvSpPr>
        <p:spPr>
          <a:xfrm>
            <a:off x="6438900" y="41624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610350" y="4086225"/>
            <a:ext cx="16811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denoising batch</a:t>
            </a:r>
          </a:p>
        </p:txBody>
      </p:sp>
      <p:sp>
        <p:nvSpPr>
          <p:cNvPr id="54" name="Ellipse 54"/>
          <p:cNvSpPr/>
          <p:nvPr/>
        </p:nvSpPr>
        <p:spPr>
          <a:xfrm>
            <a:off x="6438900" y="44862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610350" y="4410075"/>
            <a:ext cx="20426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TinyVAE / TensorRT</a:t>
            </a:r>
          </a:p>
        </p:txBody>
      </p:sp>
      <p:sp>
        <p:nvSpPr>
          <p:cNvPr id="56" name="Freeform 56"/>
          <p:cNvSpPr/>
          <p:nvPr/>
        </p:nvSpPr>
        <p:spPr>
          <a:xfrm>
            <a:off x="6191250" y="5048250"/>
            <a:ext cx="5143500" cy="666750"/>
          </a:xfrm>
          <a:custGeom>
            <a:avLst/>
            <a:gdLst/>
            <a:ahLst/>
            <a:cxnLst/>
            <a:rect l="l" t="t" r="r" b="b"/>
            <a:pathLst>
              <a:path w="5143500" h="6667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590550"/>
                </a:lnTo>
                <a:cubicBezTo>
                  <a:pt x="5143500" y="632634"/>
                  <a:pt x="5109384" y="666750"/>
                  <a:pt x="50673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F8"/>
          </a:solidFill>
          <a:ln>
            <a:noFill/>
          </a:ln>
        </p:spPr>
      </p:sp>
      <p:sp>
        <p:nvSpPr>
          <p:cNvPr id="57" name="Freeform 57"/>
          <p:cNvSpPr/>
          <p:nvPr/>
        </p:nvSpPr>
        <p:spPr>
          <a:xfrm>
            <a:off x="6191250" y="5048250"/>
            <a:ext cx="5143500" cy="666750"/>
          </a:xfrm>
          <a:custGeom>
            <a:avLst/>
            <a:gdLst/>
            <a:ahLst/>
            <a:cxnLst/>
            <a:rect l="l" t="t" r="r" b="b"/>
            <a:pathLst>
              <a:path w="5143500" h="6667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590550"/>
                </a:lnTo>
                <a:cubicBezTo>
                  <a:pt x="5143500" y="632634"/>
                  <a:pt x="5109384" y="666750"/>
                  <a:pt x="50673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E7CACA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457950" y="5153025"/>
            <a:ext cx="38795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43D3D"/>
                </a:solidFill>
                <a:latin typeface="Arial"/>
                <a:ea typeface="Microsoft YaHei"/>
                <a:cs typeface="Arial"/>
              </a:rPr>
              <a:t>因此，TensorRT 不是实时性的起点，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457950" y="540067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43D3D"/>
                </a:solidFill>
                <a:latin typeface="Arial"/>
                <a:ea typeface="Microsoft YaHei"/>
                <a:cs typeface="Arial"/>
              </a:rPr>
              <a:t>它只是把已经成立的实时链路继续推向部署。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56357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UNet 为何是系统中枢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78389" y="2924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949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所有关键状态都在 Streaming UNet 汇合，因此它不只是普通去噪器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9570" y="6522720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数据来源：项目讲稿整理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关键机制拆解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14" name="Freeform 14"/>
          <p:cNvSpPr/>
          <p:nvPr/>
        </p:nvSpPr>
        <p:spPr>
          <a:xfrm>
            <a:off x="4000500" y="2095500"/>
            <a:ext cx="4191000" cy="2095500"/>
          </a:xfrm>
          <a:custGeom>
            <a:avLst/>
            <a:gdLst/>
            <a:ahLst/>
            <a:cxnLst/>
            <a:rect l="l" t="t" r="r" b="b"/>
            <a:pathLst>
              <a:path w="4191000" h="2095500">
                <a:moveTo>
                  <a:pt x="76200" y="0"/>
                </a:moveTo>
                <a:lnTo>
                  <a:pt x="4114800" y="0"/>
                </a:lnTo>
                <a:cubicBezTo>
                  <a:pt x="4156884" y="0"/>
                  <a:pt x="4191000" y="34116"/>
                  <a:pt x="4191000" y="76200"/>
                </a:cubicBezTo>
                <a:lnTo>
                  <a:pt x="4191000" y="2019300"/>
                </a:lnTo>
                <a:cubicBezTo>
                  <a:pt x="4191000" y="2061384"/>
                  <a:pt x="4156884" y="2095500"/>
                  <a:pt x="41148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4000500" y="2095500"/>
            <a:ext cx="4191000" cy="2095500"/>
          </a:xfrm>
          <a:custGeom>
            <a:avLst/>
            <a:gdLst/>
            <a:ahLst/>
            <a:cxnLst/>
            <a:rect l="l" t="t" r="r" b="b"/>
            <a:pathLst>
              <a:path w="4191000" h="2095500">
                <a:moveTo>
                  <a:pt x="76200" y="0"/>
                </a:moveTo>
                <a:lnTo>
                  <a:pt x="4114800" y="0"/>
                </a:lnTo>
                <a:cubicBezTo>
                  <a:pt x="4156884" y="0"/>
                  <a:pt x="4191000" y="34116"/>
                  <a:pt x="4191000" y="76200"/>
                </a:cubicBezTo>
                <a:lnTo>
                  <a:pt x="4191000" y="2019300"/>
                </a:lnTo>
                <a:cubicBezTo>
                  <a:pt x="4191000" y="2061384"/>
                  <a:pt x="4156884" y="2095500"/>
                  <a:pt x="411480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9050">
            <a:solidFill>
              <a:srgbClr val="2F6B8A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5810250" y="2381250"/>
            <a:ext cx="381000" cy="381000"/>
            <a:chOff x="5810250" y="2381250"/>
            <a:chExt cx="381000" cy="381000"/>
          </a:xfrm>
        </p:grpSpPr>
        <p:sp>
          <p:nvSpPr>
            <p:cNvPr id="16" name="Freeform 16"/>
            <p:cNvSpPr/>
            <p:nvPr/>
          </p:nvSpPr>
          <p:spPr>
            <a:xfrm>
              <a:off x="5953125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95250"/>
                  </a:moveTo>
                  <a:lnTo>
                    <a:pt x="0" y="0"/>
                  </a:lnTo>
                  <a:lnTo>
                    <a:pt x="95250" y="0"/>
                  </a:ln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810250" y="23812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71438" y="47625"/>
                  </a:moveTo>
                  <a:lnTo>
                    <a:pt x="71438" y="0"/>
                  </a:lnTo>
                  <a:lnTo>
                    <a:pt x="119062" y="0"/>
                  </a:lnTo>
                  <a:lnTo>
                    <a:pt x="119062" y="47625"/>
                  </a:lnTo>
                  <a:lnTo>
                    <a:pt x="166688" y="47625"/>
                  </a:lnTo>
                  <a:lnTo>
                    <a:pt x="166688" y="0"/>
                  </a:lnTo>
                  <a:lnTo>
                    <a:pt x="214312" y="0"/>
                  </a:lnTo>
                  <a:lnTo>
                    <a:pt x="214312" y="47625"/>
                  </a:lnTo>
                  <a:lnTo>
                    <a:pt x="261938" y="47625"/>
                  </a:lnTo>
                  <a:lnTo>
                    <a:pt x="261938" y="0"/>
                  </a:lnTo>
                  <a:lnTo>
                    <a:pt x="309562" y="0"/>
                  </a:lnTo>
                  <a:lnTo>
                    <a:pt x="309562" y="47625"/>
                  </a:lnTo>
                  <a:lnTo>
                    <a:pt x="333375" y="47625"/>
                  </a:lnTo>
                  <a:lnTo>
                    <a:pt x="333375" y="71438"/>
                  </a:lnTo>
                  <a:lnTo>
                    <a:pt x="381000" y="71438"/>
                  </a:lnTo>
                  <a:lnTo>
                    <a:pt x="381000" y="119062"/>
                  </a:lnTo>
                  <a:lnTo>
                    <a:pt x="333375" y="119062"/>
                  </a:lnTo>
                  <a:lnTo>
                    <a:pt x="333375" y="166688"/>
                  </a:lnTo>
                  <a:lnTo>
                    <a:pt x="381000" y="166688"/>
                  </a:lnTo>
                  <a:lnTo>
                    <a:pt x="381000" y="214312"/>
                  </a:lnTo>
                  <a:lnTo>
                    <a:pt x="333375" y="214312"/>
                  </a:lnTo>
                  <a:lnTo>
                    <a:pt x="333375" y="261938"/>
                  </a:lnTo>
                  <a:lnTo>
                    <a:pt x="381000" y="261938"/>
                  </a:lnTo>
                  <a:lnTo>
                    <a:pt x="381000" y="309562"/>
                  </a:lnTo>
                  <a:lnTo>
                    <a:pt x="333375" y="309562"/>
                  </a:lnTo>
                  <a:lnTo>
                    <a:pt x="333375" y="333375"/>
                  </a:lnTo>
                  <a:lnTo>
                    <a:pt x="309562" y="333375"/>
                  </a:lnTo>
                  <a:lnTo>
                    <a:pt x="309562" y="381000"/>
                  </a:lnTo>
                  <a:lnTo>
                    <a:pt x="261938" y="381000"/>
                  </a:lnTo>
                  <a:lnTo>
                    <a:pt x="261938" y="333375"/>
                  </a:lnTo>
                  <a:lnTo>
                    <a:pt x="214312" y="333375"/>
                  </a:lnTo>
                  <a:lnTo>
                    <a:pt x="214312" y="381000"/>
                  </a:lnTo>
                  <a:lnTo>
                    <a:pt x="166688" y="381000"/>
                  </a:lnTo>
                  <a:lnTo>
                    <a:pt x="166688" y="333375"/>
                  </a:lnTo>
                  <a:lnTo>
                    <a:pt x="119062" y="333375"/>
                  </a:lnTo>
                  <a:lnTo>
                    <a:pt x="119062" y="381000"/>
                  </a:lnTo>
                  <a:lnTo>
                    <a:pt x="71438" y="381000"/>
                  </a:lnTo>
                  <a:lnTo>
                    <a:pt x="71438" y="333375"/>
                  </a:lnTo>
                  <a:lnTo>
                    <a:pt x="47625" y="333375"/>
                  </a:lnTo>
                  <a:lnTo>
                    <a:pt x="47625" y="309562"/>
                  </a:lnTo>
                  <a:lnTo>
                    <a:pt x="0" y="309562"/>
                  </a:lnTo>
                  <a:lnTo>
                    <a:pt x="0" y="261938"/>
                  </a:lnTo>
                  <a:lnTo>
                    <a:pt x="47625" y="261938"/>
                  </a:lnTo>
                  <a:lnTo>
                    <a:pt x="47625" y="214312"/>
                  </a:lnTo>
                  <a:lnTo>
                    <a:pt x="0" y="214312"/>
                  </a:lnTo>
                  <a:lnTo>
                    <a:pt x="0" y="166688"/>
                  </a:lnTo>
                  <a:lnTo>
                    <a:pt x="47625" y="166688"/>
                  </a:lnTo>
                  <a:lnTo>
                    <a:pt x="47625" y="119062"/>
                  </a:lnTo>
                  <a:lnTo>
                    <a:pt x="0" y="119062"/>
                  </a:lnTo>
                  <a:lnTo>
                    <a:pt x="0" y="71438"/>
                  </a:lnTo>
                  <a:lnTo>
                    <a:pt x="47625" y="71438"/>
                  </a:lnTo>
                  <a:lnTo>
                    <a:pt x="47625" y="47625"/>
                  </a:lnTo>
                  <a:lnTo>
                    <a:pt x="71438" y="47625"/>
                  </a:lnTo>
                  <a:close/>
                  <a:moveTo>
                    <a:pt x="95250" y="95250"/>
                  </a:moveTo>
                  <a:lnTo>
                    <a:pt x="95250" y="285750"/>
                  </a:lnTo>
                  <a:lnTo>
                    <a:pt x="285750" y="285750"/>
                  </a:lnTo>
                  <a:lnTo>
                    <a:pt x="285750" y="9525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4442703" y="2721292"/>
            <a:ext cx="3306594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Streaming UNet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14261" y="3283268"/>
            <a:ext cx="49634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latent 主干 + 时序注意力 + depth 条件 + LCM 调度接口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47750" y="171450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1047750" y="171450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1232297" y="1905000"/>
            <a:ext cx="183356" cy="209550"/>
            <a:chOff x="1232297" y="1905000"/>
            <a:chExt cx="183356" cy="209550"/>
          </a:xfrm>
        </p:grpSpPr>
        <p:sp>
          <p:nvSpPr>
            <p:cNvPr id="23" name="Freeform 23"/>
            <p:cNvSpPr/>
            <p:nvPr/>
          </p:nvSpPr>
          <p:spPr>
            <a:xfrm>
              <a:off x="1232297" y="1905000"/>
              <a:ext cx="183356" cy="104775"/>
            </a:xfrm>
            <a:custGeom>
              <a:avLst/>
              <a:gdLst/>
              <a:ahLst/>
              <a:cxnLst/>
              <a:rect l="l" t="t" r="r" b="b"/>
              <a:pathLst>
                <a:path w="183356" h="104775">
                  <a:moveTo>
                    <a:pt x="0" y="65484"/>
                  </a:moveTo>
                  <a:lnTo>
                    <a:pt x="0" y="39291"/>
                  </a:lnTo>
                  <a:lnTo>
                    <a:pt x="91678" y="0"/>
                  </a:lnTo>
                  <a:lnTo>
                    <a:pt x="183356" y="39291"/>
                  </a:lnTo>
                  <a:lnTo>
                    <a:pt x="183356" y="65484"/>
                  </a:lnTo>
                  <a:lnTo>
                    <a:pt x="91678" y="104775"/>
                  </a:lnTo>
                  <a:lnTo>
                    <a:pt x="0" y="6548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232297" y="2049066"/>
              <a:ext cx="183356" cy="65484"/>
            </a:xfrm>
            <a:custGeom>
              <a:avLst/>
              <a:gdLst/>
              <a:ahLst/>
              <a:cxnLst/>
              <a:rect l="l" t="t" r="r" b="b"/>
              <a:pathLst>
                <a:path w="183356" h="65484">
                  <a:moveTo>
                    <a:pt x="91678" y="65484"/>
                  </a:moveTo>
                  <a:lnTo>
                    <a:pt x="0" y="26194"/>
                  </a:lnTo>
                  <a:lnTo>
                    <a:pt x="0" y="0"/>
                  </a:lnTo>
                  <a:lnTo>
                    <a:pt x="91678" y="39291"/>
                  </a:lnTo>
                  <a:lnTo>
                    <a:pt x="183356" y="0"/>
                  </a:lnTo>
                  <a:lnTo>
                    <a:pt x="183356" y="26194"/>
                  </a:lnTo>
                  <a:lnTo>
                    <a:pt x="91678" y="6548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232297" y="1996678"/>
              <a:ext cx="183356" cy="65484"/>
            </a:xfrm>
            <a:custGeom>
              <a:avLst/>
              <a:gdLst/>
              <a:ahLst/>
              <a:cxnLst/>
              <a:rect l="l" t="t" r="r" b="b"/>
              <a:pathLst>
                <a:path w="183356" h="65484">
                  <a:moveTo>
                    <a:pt x="0" y="26194"/>
                  </a:moveTo>
                  <a:lnTo>
                    <a:pt x="91678" y="65484"/>
                  </a:lnTo>
                  <a:lnTo>
                    <a:pt x="183356" y="26194"/>
                  </a:lnTo>
                  <a:lnTo>
                    <a:pt x="183356" y="0"/>
                  </a:lnTo>
                  <a:lnTo>
                    <a:pt x="91678" y="39291"/>
                  </a:lnTo>
                  <a:lnTo>
                    <a:pt x="0" y="0"/>
                  </a:lnTo>
                  <a:lnTo>
                    <a:pt x="0" y="26194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504950" y="1990725"/>
            <a:ext cx="19128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当前 noisy latent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47750" y="314325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1047750" y="314325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1219200" y="3346847"/>
            <a:ext cx="209550" cy="170259"/>
          </a:xfrm>
          <a:custGeom>
            <a:avLst/>
            <a:gdLst/>
            <a:ahLst/>
            <a:cxnLst/>
            <a:rect l="l" t="t" r="r" b="b"/>
            <a:pathLst>
              <a:path w="209550" h="170259">
                <a:moveTo>
                  <a:pt x="52388" y="0"/>
                </a:moveTo>
                <a:lnTo>
                  <a:pt x="78581" y="0"/>
                </a:lnTo>
                <a:lnTo>
                  <a:pt x="107394" y="79236"/>
                </a:lnTo>
                <a:lnTo>
                  <a:pt x="130969" y="26194"/>
                </a:lnTo>
                <a:lnTo>
                  <a:pt x="157162" y="26194"/>
                </a:lnTo>
                <a:lnTo>
                  <a:pt x="209550" y="144066"/>
                </a:lnTo>
                <a:lnTo>
                  <a:pt x="209550" y="170259"/>
                </a:lnTo>
                <a:lnTo>
                  <a:pt x="0" y="170259"/>
                </a:lnTo>
                <a:lnTo>
                  <a:pt x="0" y="144066"/>
                </a:lnTo>
                <a:lnTo>
                  <a:pt x="52388" y="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504950" y="3419475"/>
            <a:ext cx="1441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depth latent</a:t>
            </a:r>
          </a:p>
        </p:txBody>
      </p:sp>
      <p:sp>
        <p:nvSpPr>
          <p:cNvPr id="32" name="Freeform 32"/>
          <p:cNvSpPr/>
          <p:nvPr/>
        </p:nvSpPr>
        <p:spPr>
          <a:xfrm>
            <a:off x="9048750" y="171450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9048750" y="171450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9220200" y="1918097"/>
            <a:ext cx="209550" cy="196453"/>
          </a:xfrm>
          <a:custGeom>
            <a:avLst/>
            <a:gdLst/>
            <a:ahLst/>
            <a:cxnLst/>
            <a:rect l="l" t="t" r="r" b="b"/>
            <a:pathLst>
              <a:path w="209550" h="196453">
                <a:moveTo>
                  <a:pt x="209550" y="0"/>
                </a:moveTo>
                <a:lnTo>
                  <a:pt x="0" y="0"/>
                </a:lnTo>
                <a:lnTo>
                  <a:pt x="0" y="157162"/>
                </a:lnTo>
                <a:lnTo>
                  <a:pt x="65484" y="157162"/>
                </a:lnTo>
                <a:lnTo>
                  <a:pt x="104775" y="196453"/>
                </a:lnTo>
                <a:lnTo>
                  <a:pt x="144066" y="157162"/>
                </a:lnTo>
                <a:lnTo>
                  <a:pt x="209550" y="157162"/>
                </a:lnTo>
                <a:lnTo>
                  <a:pt x="209550" y="0"/>
                </a:lnTo>
                <a:close/>
                <a:moveTo>
                  <a:pt x="39291" y="65484"/>
                </a:moveTo>
                <a:lnTo>
                  <a:pt x="65484" y="65484"/>
                </a:lnTo>
                <a:lnTo>
                  <a:pt x="65484" y="91678"/>
                </a:lnTo>
                <a:lnTo>
                  <a:pt x="39291" y="91678"/>
                </a:lnTo>
                <a:lnTo>
                  <a:pt x="39291" y="65484"/>
                </a:lnTo>
                <a:close/>
                <a:moveTo>
                  <a:pt x="117872" y="65484"/>
                </a:moveTo>
                <a:lnTo>
                  <a:pt x="91678" y="65484"/>
                </a:lnTo>
                <a:lnTo>
                  <a:pt x="91678" y="91678"/>
                </a:lnTo>
                <a:lnTo>
                  <a:pt x="117872" y="91678"/>
                </a:lnTo>
                <a:lnTo>
                  <a:pt x="117872" y="65484"/>
                </a:lnTo>
                <a:close/>
                <a:moveTo>
                  <a:pt x="170259" y="65484"/>
                </a:moveTo>
                <a:lnTo>
                  <a:pt x="144066" y="65484"/>
                </a:lnTo>
                <a:lnTo>
                  <a:pt x="144066" y="91678"/>
                </a:lnTo>
                <a:lnTo>
                  <a:pt x="170259" y="91678"/>
                </a:lnTo>
                <a:lnTo>
                  <a:pt x="170259" y="6548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505950" y="1990725"/>
            <a:ext cx="1717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prompt embeds</a:t>
            </a:r>
          </a:p>
        </p:txBody>
      </p:sp>
      <p:sp>
        <p:nvSpPr>
          <p:cNvPr id="36" name="Freeform 36"/>
          <p:cNvSpPr/>
          <p:nvPr/>
        </p:nvSpPr>
        <p:spPr>
          <a:xfrm>
            <a:off x="9048750" y="314325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9048750" y="314325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9246394" y="3333750"/>
            <a:ext cx="157162" cy="209550"/>
            <a:chOff x="9246394" y="3333750"/>
            <a:chExt cx="157162" cy="209550"/>
          </a:xfrm>
        </p:grpSpPr>
        <p:sp>
          <p:nvSpPr>
            <p:cNvPr id="38" name="Freeform 38"/>
            <p:cNvSpPr/>
            <p:nvPr/>
          </p:nvSpPr>
          <p:spPr>
            <a:xfrm>
              <a:off x="9246394" y="3417570"/>
              <a:ext cx="157162" cy="60245"/>
            </a:xfrm>
            <a:custGeom>
              <a:avLst/>
              <a:gdLst/>
              <a:ahLst/>
              <a:cxnLst/>
              <a:rect l="l" t="t" r="r" b="b"/>
              <a:pathLst>
                <a:path w="157162" h="60245">
                  <a:moveTo>
                    <a:pt x="145861" y="6682"/>
                  </a:moveTo>
                  <a:cubicBezTo>
                    <a:pt x="149545" y="4839"/>
                    <a:pt x="153395" y="2617"/>
                    <a:pt x="157162" y="0"/>
                  </a:cubicBezTo>
                  <a:lnTo>
                    <a:pt x="157162" y="20955"/>
                  </a:lnTo>
                  <a:cubicBezTo>
                    <a:pt x="157162" y="42654"/>
                    <a:pt x="121980" y="60245"/>
                    <a:pt x="78581" y="60245"/>
                  </a:cubicBezTo>
                  <a:cubicBezTo>
                    <a:pt x="35182" y="60245"/>
                    <a:pt x="0" y="42654"/>
                    <a:pt x="0" y="20955"/>
                  </a:cubicBezTo>
                  <a:lnTo>
                    <a:pt x="0" y="0"/>
                  </a:lnTo>
                  <a:cubicBezTo>
                    <a:pt x="3768" y="2617"/>
                    <a:pt x="7617" y="4839"/>
                    <a:pt x="11302" y="6682"/>
                  </a:cubicBezTo>
                  <a:cubicBezTo>
                    <a:pt x="29873" y="15967"/>
                    <a:pt x="53697" y="20955"/>
                    <a:pt x="78581" y="20955"/>
                  </a:cubicBezTo>
                  <a:cubicBezTo>
                    <a:pt x="103466" y="20955"/>
                    <a:pt x="127289" y="15967"/>
                    <a:pt x="145861" y="6682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246394" y="3483054"/>
              <a:ext cx="157162" cy="60246"/>
            </a:xfrm>
            <a:custGeom>
              <a:avLst/>
              <a:gdLst/>
              <a:ahLst/>
              <a:cxnLst/>
              <a:rect l="l" t="t" r="r" b="b"/>
              <a:pathLst>
                <a:path w="157162" h="60246">
                  <a:moveTo>
                    <a:pt x="0" y="0"/>
                  </a:moveTo>
                  <a:lnTo>
                    <a:pt x="0" y="20955"/>
                  </a:lnTo>
                  <a:cubicBezTo>
                    <a:pt x="0" y="42655"/>
                    <a:pt x="35182" y="60246"/>
                    <a:pt x="78581" y="60246"/>
                  </a:cubicBezTo>
                  <a:cubicBezTo>
                    <a:pt x="121980" y="60246"/>
                    <a:pt x="157162" y="42655"/>
                    <a:pt x="157162" y="20955"/>
                  </a:cubicBezTo>
                  <a:lnTo>
                    <a:pt x="157162" y="0"/>
                  </a:lnTo>
                  <a:cubicBezTo>
                    <a:pt x="153395" y="2617"/>
                    <a:pt x="149545" y="4839"/>
                    <a:pt x="145861" y="6682"/>
                  </a:cubicBezTo>
                  <a:cubicBezTo>
                    <a:pt x="127289" y="15968"/>
                    <a:pt x="103466" y="20955"/>
                    <a:pt x="78581" y="20955"/>
                  </a:cubicBezTo>
                  <a:cubicBezTo>
                    <a:pt x="53697" y="20955"/>
                    <a:pt x="29873" y="15968"/>
                    <a:pt x="11302" y="6682"/>
                  </a:cubicBezTo>
                  <a:cubicBezTo>
                    <a:pt x="7617" y="4839"/>
                    <a:pt x="3768" y="2617"/>
                    <a:pt x="0" y="0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246394" y="3333750"/>
              <a:ext cx="157162" cy="78581"/>
            </a:xfrm>
            <a:custGeom>
              <a:avLst/>
              <a:gdLst/>
              <a:ahLst/>
              <a:cxnLst/>
              <a:rect l="l" t="t" r="r" b="b"/>
              <a:pathLst>
                <a:path w="157162" h="78581">
                  <a:moveTo>
                    <a:pt x="78581" y="0"/>
                  </a:moveTo>
                  <a:cubicBezTo>
                    <a:pt x="121980" y="0"/>
                    <a:pt x="157162" y="17591"/>
                    <a:pt x="157162" y="39291"/>
                  </a:cubicBezTo>
                  <a:cubicBezTo>
                    <a:pt x="157162" y="60990"/>
                    <a:pt x="121980" y="78581"/>
                    <a:pt x="78581" y="78581"/>
                  </a:cubicBezTo>
                  <a:cubicBezTo>
                    <a:pt x="35182" y="78581"/>
                    <a:pt x="0" y="60990"/>
                    <a:pt x="0" y="39291"/>
                  </a:cubicBezTo>
                  <a:cubicBezTo>
                    <a:pt x="0" y="17591"/>
                    <a:pt x="35182" y="0"/>
                    <a:pt x="78581" y="0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9505950" y="3419475"/>
            <a:ext cx="10502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KV-cache</a:t>
            </a:r>
          </a:p>
        </p:txBody>
      </p:sp>
      <p:sp>
        <p:nvSpPr>
          <p:cNvPr id="43" name="Freeform 43"/>
          <p:cNvSpPr/>
          <p:nvPr/>
        </p:nvSpPr>
        <p:spPr>
          <a:xfrm>
            <a:off x="1047750" y="476250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1047750" y="476250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47" name="Group 47"/>
          <p:cNvGrpSpPr/>
          <p:nvPr/>
        </p:nvGrpSpPr>
        <p:grpSpPr>
          <a:xfrm>
            <a:off x="1232297" y="4966097"/>
            <a:ext cx="183356" cy="183356"/>
            <a:chOff x="1232297" y="4966097"/>
            <a:chExt cx="183356" cy="183356"/>
          </a:xfrm>
        </p:grpSpPr>
        <p:sp>
          <p:nvSpPr>
            <p:cNvPr id="45" name="Freeform 45"/>
            <p:cNvSpPr/>
            <p:nvPr/>
          </p:nvSpPr>
          <p:spPr>
            <a:xfrm>
              <a:off x="1232297" y="4966097"/>
              <a:ext cx="183356" cy="78581"/>
            </a:xfrm>
            <a:custGeom>
              <a:avLst/>
              <a:gdLst/>
              <a:ahLst/>
              <a:cxnLst/>
              <a:rect l="l" t="t" r="r" b="b"/>
              <a:pathLst>
                <a:path w="183356" h="78581">
                  <a:moveTo>
                    <a:pt x="26194" y="0"/>
                  </a:moveTo>
                  <a:lnTo>
                    <a:pt x="91678" y="0"/>
                  </a:lnTo>
                  <a:lnTo>
                    <a:pt x="91678" y="26194"/>
                  </a:lnTo>
                  <a:lnTo>
                    <a:pt x="183356" y="26194"/>
                  </a:lnTo>
                  <a:lnTo>
                    <a:pt x="183356" y="52388"/>
                  </a:lnTo>
                  <a:lnTo>
                    <a:pt x="91678" y="52388"/>
                  </a:lnTo>
                  <a:lnTo>
                    <a:pt x="91678" y="78581"/>
                  </a:lnTo>
                  <a:lnTo>
                    <a:pt x="26194" y="78581"/>
                  </a:lnTo>
                  <a:lnTo>
                    <a:pt x="26194" y="52388"/>
                  </a:lnTo>
                  <a:lnTo>
                    <a:pt x="0" y="52388"/>
                  </a:lnTo>
                  <a:lnTo>
                    <a:pt x="0" y="26194"/>
                  </a:lnTo>
                  <a:lnTo>
                    <a:pt x="26194" y="26194"/>
                  </a:lnTo>
                  <a:lnTo>
                    <a:pt x="26194" y="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232297" y="5070872"/>
              <a:ext cx="183356" cy="78581"/>
            </a:xfrm>
            <a:custGeom>
              <a:avLst/>
              <a:gdLst/>
              <a:ahLst/>
              <a:cxnLst/>
              <a:rect l="l" t="t" r="r" b="b"/>
              <a:pathLst>
                <a:path w="183356" h="78581">
                  <a:moveTo>
                    <a:pt x="157162" y="52388"/>
                  </a:moveTo>
                  <a:lnTo>
                    <a:pt x="183356" y="52388"/>
                  </a:lnTo>
                  <a:lnTo>
                    <a:pt x="183356" y="26194"/>
                  </a:lnTo>
                  <a:lnTo>
                    <a:pt x="157162" y="26194"/>
                  </a:lnTo>
                  <a:lnTo>
                    <a:pt x="157162" y="0"/>
                  </a:lnTo>
                  <a:lnTo>
                    <a:pt x="91678" y="0"/>
                  </a:lnTo>
                  <a:lnTo>
                    <a:pt x="91678" y="26194"/>
                  </a:lnTo>
                  <a:lnTo>
                    <a:pt x="0" y="26194"/>
                  </a:lnTo>
                  <a:lnTo>
                    <a:pt x="0" y="52388"/>
                  </a:lnTo>
                  <a:lnTo>
                    <a:pt x="91678" y="52388"/>
                  </a:lnTo>
                  <a:lnTo>
                    <a:pt x="91678" y="78581"/>
                  </a:lnTo>
                  <a:lnTo>
                    <a:pt x="157162" y="78581"/>
                  </a:lnTo>
                  <a:lnTo>
                    <a:pt x="157162" y="52388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1504950" y="5038725"/>
            <a:ext cx="20853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attn_bias / pe_idx</a:t>
            </a:r>
          </a:p>
        </p:txBody>
      </p:sp>
      <p:sp>
        <p:nvSpPr>
          <p:cNvPr id="49" name="Freeform 49"/>
          <p:cNvSpPr/>
          <p:nvPr/>
        </p:nvSpPr>
        <p:spPr>
          <a:xfrm>
            <a:off x="9048750" y="476250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" name="Freeform 50"/>
          <p:cNvSpPr/>
          <p:nvPr/>
        </p:nvSpPr>
        <p:spPr>
          <a:xfrm>
            <a:off x="9048750" y="4762500"/>
            <a:ext cx="2095500" cy="800100"/>
          </a:xfrm>
          <a:custGeom>
            <a:avLst/>
            <a:gdLst/>
            <a:ahLst/>
            <a:cxnLst/>
            <a:rect l="l" t="t" r="r" b="b"/>
            <a:pathLst>
              <a:path w="2095500" h="80010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23900"/>
                </a:lnTo>
                <a:cubicBezTo>
                  <a:pt x="2095500" y="765984"/>
                  <a:pt x="2061384" y="800100"/>
                  <a:pt x="2019300" y="800100"/>
                </a:cubicBezTo>
                <a:lnTo>
                  <a:pt x="76200" y="800100"/>
                </a:lnTo>
                <a:cubicBezTo>
                  <a:pt x="34116" y="800100"/>
                  <a:pt x="0" y="765984"/>
                  <a:pt x="0" y="723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51" name="Freeform 51"/>
          <p:cNvSpPr/>
          <p:nvPr/>
        </p:nvSpPr>
        <p:spPr>
          <a:xfrm>
            <a:off x="9220200" y="495300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30969" y="91678"/>
                </a:moveTo>
                <a:lnTo>
                  <a:pt x="117872" y="78581"/>
                </a:lnTo>
                <a:lnTo>
                  <a:pt x="147902" y="48552"/>
                </a:lnTo>
                <a:lnTo>
                  <a:pt x="141463" y="42113"/>
                </a:lnTo>
                <a:cubicBezTo>
                  <a:pt x="131270" y="31920"/>
                  <a:pt x="117445" y="26194"/>
                  <a:pt x="103030" y="26194"/>
                </a:cubicBezTo>
                <a:cubicBezTo>
                  <a:pt x="60757" y="26194"/>
                  <a:pt x="26194" y="61295"/>
                  <a:pt x="26194" y="103894"/>
                </a:cubicBezTo>
                <a:cubicBezTo>
                  <a:pt x="26194" y="147456"/>
                  <a:pt x="61538" y="183356"/>
                  <a:pt x="104775" y="183356"/>
                </a:cubicBezTo>
                <a:cubicBezTo>
                  <a:pt x="124906" y="183356"/>
                  <a:pt x="144994" y="175687"/>
                  <a:pt x="160340" y="160340"/>
                </a:cubicBezTo>
                <a:lnTo>
                  <a:pt x="178863" y="178863"/>
                </a:lnTo>
                <a:cubicBezTo>
                  <a:pt x="158407" y="199319"/>
                  <a:pt x="131569" y="209550"/>
                  <a:pt x="104775" y="209550"/>
                </a:cubicBezTo>
                <a:cubicBezTo>
                  <a:pt x="46747" y="209550"/>
                  <a:pt x="0" y="161596"/>
                  <a:pt x="0" y="103894"/>
                </a:cubicBezTo>
                <a:cubicBezTo>
                  <a:pt x="0" y="47156"/>
                  <a:pt x="45966" y="0"/>
                  <a:pt x="103030" y="0"/>
                </a:cubicBezTo>
                <a:cubicBezTo>
                  <a:pt x="124392" y="0"/>
                  <a:pt x="144880" y="8486"/>
                  <a:pt x="159985" y="23592"/>
                </a:cubicBezTo>
                <a:lnTo>
                  <a:pt x="166423" y="30030"/>
                </a:lnTo>
                <a:lnTo>
                  <a:pt x="196453" y="0"/>
                </a:lnTo>
                <a:lnTo>
                  <a:pt x="209550" y="13097"/>
                </a:lnTo>
                <a:lnTo>
                  <a:pt x="209550" y="91678"/>
                </a:lnTo>
                <a:lnTo>
                  <a:pt x="130969" y="91678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505950" y="5038725"/>
            <a:ext cx="12457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update_idx</a:t>
            </a:r>
          </a:p>
        </p:txBody>
      </p:sp>
      <p:sp>
        <p:nvSpPr>
          <p:cNvPr id="53" name="Line 53"/>
          <p:cNvSpPr/>
          <p:nvPr/>
        </p:nvSpPr>
        <p:spPr>
          <a:xfrm>
            <a:off x="3143250" y="2114550"/>
            <a:ext cx="781050" cy="457200"/>
          </a:xfrm>
          <a:custGeom>
            <a:avLst/>
            <a:gdLst/>
            <a:ahLst/>
            <a:cxnLst/>
            <a:rect l="l" t="t" r="r" b="b"/>
            <a:pathLst>
              <a:path w="781050" h="457200">
                <a:moveTo>
                  <a:pt x="0" y="0"/>
                </a:moveTo>
                <a:lnTo>
                  <a:pt x="781050" y="45720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3848100" y="25146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55" name="Line 55"/>
          <p:cNvSpPr/>
          <p:nvPr/>
        </p:nvSpPr>
        <p:spPr>
          <a:xfrm>
            <a:off x="3143250" y="3543300"/>
            <a:ext cx="781050" cy="9525"/>
          </a:xfrm>
          <a:custGeom>
            <a:avLst/>
            <a:gdLst/>
            <a:ahLst/>
            <a:cxnLst/>
            <a:rect l="l" t="t" r="r" b="b"/>
            <a:pathLst>
              <a:path w="781050" h="9525">
                <a:moveTo>
                  <a:pt x="0" y="0"/>
                </a:moveTo>
                <a:lnTo>
                  <a:pt x="78105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56" name="Polygon 56"/>
          <p:cNvSpPr/>
          <p:nvPr/>
        </p:nvSpPr>
        <p:spPr>
          <a:xfrm>
            <a:off x="3848100" y="348615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57" name="Line 57"/>
          <p:cNvSpPr/>
          <p:nvPr/>
        </p:nvSpPr>
        <p:spPr>
          <a:xfrm>
            <a:off x="8267700" y="2114550"/>
            <a:ext cx="781050" cy="457200"/>
          </a:xfrm>
          <a:custGeom>
            <a:avLst/>
            <a:gdLst/>
            <a:ahLst/>
            <a:cxnLst/>
            <a:rect l="l" t="t" r="r" b="b"/>
            <a:pathLst>
              <a:path w="781050" h="457200">
                <a:moveTo>
                  <a:pt x="781050" y="0"/>
                </a:moveTo>
                <a:lnTo>
                  <a:pt x="0" y="45720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8191500" y="25146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59" name="Line 59"/>
          <p:cNvSpPr/>
          <p:nvPr/>
        </p:nvSpPr>
        <p:spPr>
          <a:xfrm>
            <a:off x="8267700" y="3543300"/>
            <a:ext cx="781050" cy="9525"/>
          </a:xfrm>
          <a:custGeom>
            <a:avLst/>
            <a:gdLst/>
            <a:ahLst/>
            <a:cxnLst/>
            <a:rect l="l" t="t" r="r" b="b"/>
            <a:pathLst>
              <a:path w="781050" h="9525">
                <a:moveTo>
                  <a:pt x="7810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60" name="Polygon 60"/>
          <p:cNvSpPr/>
          <p:nvPr/>
        </p:nvSpPr>
        <p:spPr>
          <a:xfrm>
            <a:off x="8191500" y="348615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61" name="Line 61"/>
          <p:cNvSpPr/>
          <p:nvPr/>
        </p:nvSpPr>
        <p:spPr>
          <a:xfrm>
            <a:off x="3143250" y="4171950"/>
            <a:ext cx="1333500" cy="990600"/>
          </a:xfrm>
          <a:custGeom>
            <a:avLst/>
            <a:gdLst/>
            <a:ahLst/>
            <a:cxnLst/>
            <a:rect l="l" t="t" r="r" b="b"/>
            <a:pathLst>
              <a:path w="1333500" h="990600">
                <a:moveTo>
                  <a:pt x="0" y="99060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4400550" y="4114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63" name="Line 63"/>
          <p:cNvSpPr/>
          <p:nvPr/>
        </p:nvSpPr>
        <p:spPr>
          <a:xfrm>
            <a:off x="7715250" y="4171950"/>
            <a:ext cx="1333500" cy="990600"/>
          </a:xfrm>
          <a:custGeom>
            <a:avLst/>
            <a:gdLst/>
            <a:ahLst/>
            <a:cxnLst/>
            <a:rect l="l" t="t" r="r" b="b"/>
            <a:pathLst>
              <a:path w="1333500" h="990600">
                <a:moveTo>
                  <a:pt x="1333500" y="9906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64" name="Polygon 64"/>
          <p:cNvSpPr/>
          <p:nvPr/>
        </p:nvSpPr>
        <p:spPr>
          <a:xfrm>
            <a:off x="7639050" y="4114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65" name="Freeform 65"/>
          <p:cNvSpPr/>
          <p:nvPr/>
        </p:nvSpPr>
        <p:spPr>
          <a:xfrm>
            <a:off x="571500" y="5905500"/>
            <a:ext cx="11049000" cy="266700"/>
          </a:xfrm>
          <a:custGeom>
            <a:avLst/>
            <a:gdLst/>
            <a:ahLst/>
            <a:cxnLst/>
            <a:rect l="l" t="t" r="r" b="b"/>
            <a:pathLst>
              <a:path w="11049000" h="2667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90500"/>
                </a:lnTo>
                <a:cubicBezTo>
                  <a:pt x="11049000" y="232584"/>
                  <a:pt x="11014884" y="266700"/>
                  <a:pt x="10972800" y="266700"/>
                </a:cubicBezTo>
                <a:lnTo>
                  <a:pt x="76200" y="266700"/>
                </a:lnTo>
                <a:cubicBezTo>
                  <a:pt x="34116" y="266700"/>
                  <a:pt x="0" y="232584"/>
                  <a:pt x="0" y="190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EEF5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44855" y="5950268"/>
            <a:ext cx="104890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一句话概括：UNet 是一个以 latent 为主干、以时序注意力为记忆机制、以 depth 为结构偏置的流式视频去噪器。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缓存与结构条件机制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78389" y="2924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5660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noisy batch、双 buffer、KV-cache 与 depth 条件一起，构成了这套系统的运行骨架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9570" y="6522720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数据来源：项目讲稿整理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0235" y="65227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关键机制拆解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1428750"/>
            <a:ext cx="5429250" cy="1809750"/>
          </a:xfrm>
          <a:custGeom>
            <a:avLst/>
            <a:gdLst/>
            <a:ahLst/>
            <a:cxnLst/>
            <a:rect l="l" t="t" r="r" b="b"/>
            <a:pathLst>
              <a:path w="5429250" h="1809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1733550"/>
                </a:lnTo>
                <a:cubicBezTo>
                  <a:pt x="5429250" y="1775634"/>
                  <a:pt x="5395134" y="1809750"/>
                  <a:pt x="535305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1428750"/>
            <a:ext cx="5429250" cy="1809750"/>
          </a:xfrm>
          <a:custGeom>
            <a:avLst/>
            <a:gdLst/>
            <a:ahLst/>
            <a:cxnLst/>
            <a:rect l="l" t="t" r="r" b="b"/>
            <a:pathLst>
              <a:path w="5429250" h="1809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1733550"/>
                </a:lnTo>
                <a:cubicBezTo>
                  <a:pt x="5429250" y="1775634"/>
                  <a:pt x="5395134" y="1809750"/>
                  <a:pt x="535305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776288" y="1619250"/>
            <a:ext cx="200025" cy="228600"/>
            <a:chOff x="776288" y="1619250"/>
            <a:chExt cx="200025" cy="228600"/>
          </a:xfrm>
        </p:grpSpPr>
        <p:sp>
          <p:nvSpPr>
            <p:cNvPr id="16" name="Freeform 16"/>
            <p:cNvSpPr/>
            <p:nvPr/>
          </p:nvSpPr>
          <p:spPr>
            <a:xfrm>
              <a:off x="776288" y="1619250"/>
              <a:ext cx="200025" cy="114300"/>
            </a:xfrm>
            <a:custGeom>
              <a:avLst/>
              <a:gdLst/>
              <a:ahLst/>
              <a:cxnLst/>
              <a:rect l="l" t="t" r="r" b="b"/>
              <a:pathLst>
                <a:path w="200025" h="114300">
                  <a:moveTo>
                    <a:pt x="0" y="71438"/>
                  </a:moveTo>
                  <a:lnTo>
                    <a:pt x="0" y="42862"/>
                  </a:lnTo>
                  <a:lnTo>
                    <a:pt x="100012" y="0"/>
                  </a:lnTo>
                  <a:lnTo>
                    <a:pt x="200025" y="42862"/>
                  </a:lnTo>
                  <a:lnTo>
                    <a:pt x="200025" y="71438"/>
                  </a:lnTo>
                  <a:lnTo>
                    <a:pt x="100012" y="114300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76288" y="1776412"/>
              <a:ext cx="200025" cy="71438"/>
            </a:xfrm>
            <a:custGeom>
              <a:avLst/>
              <a:gdLst/>
              <a:ahLst/>
              <a:cxnLst/>
              <a:rect l="l" t="t" r="r" b="b"/>
              <a:pathLst>
                <a:path w="200025" h="71438">
                  <a:moveTo>
                    <a:pt x="100012" y="71438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100012" y="42862"/>
                  </a:lnTo>
                  <a:lnTo>
                    <a:pt x="200025" y="0"/>
                  </a:lnTo>
                  <a:lnTo>
                    <a:pt x="200025" y="28575"/>
                  </a:lnTo>
                  <a:lnTo>
                    <a:pt x="100012" y="71438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76288" y="1719262"/>
              <a:ext cx="200025" cy="71438"/>
            </a:xfrm>
            <a:custGeom>
              <a:avLst/>
              <a:gdLst/>
              <a:ahLst/>
              <a:cxnLst/>
              <a:rect l="l" t="t" r="r" b="b"/>
              <a:pathLst>
                <a:path w="200025" h="71438">
                  <a:moveTo>
                    <a:pt x="0" y="28575"/>
                  </a:moveTo>
                  <a:lnTo>
                    <a:pt x="100012" y="71438"/>
                  </a:lnTo>
                  <a:lnTo>
                    <a:pt x="200025" y="28575"/>
                  </a:lnTo>
                  <a:lnTo>
                    <a:pt x="200025" y="0"/>
                  </a:lnTo>
                  <a:lnTo>
                    <a:pt x="100012" y="42862"/>
                  </a:lnTo>
                  <a:lnTo>
                    <a:pt x="0" y="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083945" y="1650682"/>
            <a:ext cx="27873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noisy batch 的严格含义</a:t>
            </a:r>
          </a:p>
        </p:txBody>
      </p:sp>
      <p:sp>
        <p:nvSpPr>
          <p:cNvPr id="21" name="Ellipse 21"/>
          <p:cNvSpPr/>
          <p:nvPr/>
        </p:nvSpPr>
        <p:spPr>
          <a:xfrm>
            <a:off x="742950" y="21621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16305" y="2102168"/>
            <a:ext cx="18285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不是“多帧一起生成”</a:t>
            </a:r>
          </a:p>
        </p:txBody>
      </p:sp>
      <p:sp>
        <p:nvSpPr>
          <p:cNvPr id="23" name="Ellipse 23"/>
          <p:cNvSpPr/>
          <p:nvPr/>
        </p:nvSpPr>
        <p:spPr>
          <a:xfrm>
            <a:off x="742950" y="24479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16305" y="2387918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而是把不同去噪阶段的中间状态拼成 batch</a:t>
            </a:r>
          </a:p>
        </p:txBody>
      </p:sp>
      <p:sp>
        <p:nvSpPr>
          <p:cNvPr id="25" name="Ellipse 25"/>
          <p:cNvSpPr/>
          <p:nvPr/>
        </p:nvSpPr>
        <p:spPr>
          <a:xfrm>
            <a:off x="742950" y="27336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16305" y="2673668"/>
            <a:ext cx="41353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收益是减少 UNet 调用，代价是固定流水线延迟</a:t>
            </a:r>
          </a:p>
        </p:txBody>
      </p:sp>
      <p:sp>
        <p:nvSpPr>
          <p:cNvPr id="27" name="Freeform 27"/>
          <p:cNvSpPr/>
          <p:nvPr/>
        </p:nvSpPr>
        <p:spPr>
          <a:xfrm>
            <a:off x="6191250" y="1428750"/>
            <a:ext cx="5429250" cy="1809750"/>
          </a:xfrm>
          <a:custGeom>
            <a:avLst/>
            <a:gdLst/>
            <a:ahLst/>
            <a:cxnLst/>
            <a:rect l="l" t="t" r="r" b="b"/>
            <a:pathLst>
              <a:path w="5429250" h="1809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1733550"/>
                </a:lnTo>
                <a:cubicBezTo>
                  <a:pt x="5429250" y="1775634"/>
                  <a:pt x="5395134" y="1809750"/>
                  <a:pt x="535305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191250" y="1428750"/>
            <a:ext cx="5429250" cy="1809750"/>
          </a:xfrm>
          <a:custGeom>
            <a:avLst/>
            <a:gdLst/>
            <a:ahLst/>
            <a:cxnLst/>
            <a:rect l="l" t="t" r="r" b="b"/>
            <a:pathLst>
              <a:path w="5429250" h="1809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1733550"/>
                </a:lnTo>
                <a:cubicBezTo>
                  <a:pt x="5429250" y="1775634"/>
                  <a:pt x="5395134" y="1809750"/>
                  <a:pt x="535305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6410325" y="1619250"/>
            <a:ext cx="171450" cy="228601"/>
            <a:chOff x="6410325" y="1619250"/>
            <a:chExt cx="171450" cy="228601"/>
          </a:xfrm>
        </p:grpSpPr>
        <p:sp>
          <p:nvSpPr>
            <p:cNvPr id="29" name="Freeform 29"/>
            <p:cNvSpPr/>
            <p:nvPr/>
          </p:nvSpPr>
          <p:spPr>
            <a:xfrm>
              <a:off x="6410325" y="1710690"/>
              <a:ext cx="171450" cy="65722"/>
            </a:xfrm>
            <a:custGeom>
              <a:avLst/>
              <a:gdLst/>
              <a:ahLst/>
              <a:cxnLst/>
              <a:rect l="l" t="t" r="r" b="b"/>
              <a:pathLst>
                <a:path w="171450" h="65722">
                  <a:moveTo>
                    <a:pt x="159121" y="7289"/>
                  </a:moveTo>
                  <a:cubicBezTo>
                    <a:pt x="163140" y="5279"/>
                    <a:pt x="167339" y="2855"/>
                    <a:pt x="171450" y="0"/>
                  </a:cubicBezTo>
                  <a:lnTo>
                    <a:pt x="171450" y="22860"/>
                  </a:lnTo>
                  <a:cubicBezTo>
                    <a:pt x="171450" y="46532"/>
                    <a:pt x="133069" y="65722"/>
                    <a:pt x="85725" y="65722"/>
                  </a:cubicBezTo>
                  <a:cubicBezTo>
                    <a:pt x="38380" y="65722"/>
                    <a:pt x="0" y="46532"/>
                    <a:pt x="0" y="22860"/>
                  </a:cubicBezTo>
                  <a:lnTo>
                    <a:pt x="0" y="0"/>
                  </a:lnTo>
                  <a:cubicBezTo>
                    <a:pt x="4111" y="2855"/>
                    <a:pt x="8309" y="5279"/>
                    <a:pt x="12329" y="7289"/>
                  </a:cubicBezTo>
                  <a:cubicBezTo>
                    <a:pt x="32589" y="17419"/>
                    <a:pt x="58578" y="22860"/>
                    <a:pt x="85725" y="22860"/>
                  </a:cubicBezTo>
                  <a:cubicBezTo>
                    <a:pt x="112872" y="22860"/>
                    <a:pt x="138860" y="17419"/>
                    <a:pt x="159121" y="7289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410325" y="1782128"/>
              <a:ext cx="171450" cy="65723"/>
            </a:xfrm>
            <a:custGeom>
              <a:avLst/>
              <a:gdLst/>
              <a:ahLst/>
              <a:cxnLst/>
              <a:rect l="l" t="t" r="r" b="b"/>
              <a:pathLst>
                <a:path w="171450" h="65723">
                  <a:moveTo>
                    <a:pt x="0" y="0"/>
                  </a:moveTo>
                  <a:lnTo>
                    <a:pt x="0" y="22860"/>
                  </a:lnTo>
                  <a:cubicBezTo>
                    <a:pt x="0" y="46533"/>
                    <a:pt x="38380" y="65723"/>
                    <a:pt x="85725" y="65723"/>
                  </a:cubicBezTo>
                  <a:cubicBezTo>
                    <a:pt x="133069" y="65723"/>
                    <a:pt x="171450" y="46533"/>
                    <a:pt x="171450" y="22860"/>
                  </a:cubicBezTo>
                  <a:lnTo>
                    <a:pt x="171450" y="0"/>
                  </a:lnTo>
                  <a:cubicBezTo>
                    <a:pt x="167339" y="2855"/>
                    <a:pt x="163140" y="5279"/>
                    <a:pt x="159121" y="7289"/>
                  </a:cubicBezTo>
                  <a:cubicBezTo>
                    <a:pt x="138860" y="17419"/>
                    <a:pt x="112872" y="22860"/>
                    <a:pt x="85725" y="22860"/>
                  </a:cubicBezTo>
                  <a:cubicBezTo>
                    <a:pt x="58578" y="22860"/>
                    <a:pt x="32589" y="17419"/>
                    <a:pt x="12329" y="7289"/>
                  </a:cubicBezTo>
                  <a:cubicBezTo>
                    <a:pt x="8309" y="5279"/>
                    <a:pt x="4111" y="2855"/>
                    <a:pt x="0" y="0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410325" y="1619250"/>
              <a:ext cx="171450" cy="85725"/>
            </a:xfrm>
            <a:custGeom>
              <a:avLst/>
              <a:gdLst/>
              <a:ahLst/>
              <a:cxnLst/>
              <a:rect l="l" t="t" r="r" b="b"/>
              <a:pathLst>
                <a:path w="171450" h="85725">
                  <a:moveTo>
                    <a:pt x="85725" y="0"/>
                  </a:moveTo>
                  <a:cubicBezTo>
                    <a:pt x="133069" y="0"/>
                    <a:pt x="171450" y="19190"/>
                    <a:pt x="171450" y="42862"/>
                  </a:cubicBezTo>
                  <a:cubicBezTo>
                    <a:pt x="171450" y="66535"/>
                    <a:pt x="133069" y="85725"/>
                    <a:pt x="85725" y="85725"/>
                  </a:cubicBezTo>
                  <a:cubicBezTo>
                    <a:pt x="38380" y="85725"/>
                    <a:pt x="0" y="66535"/>
                    <a:pt x="0" y="42862"/>
                  </a:cubicBezTo>
                  <a:cubicBezTo>
                    <a:pt x="0" y="19190"/>
                    <a:pt x="38380" y="0"/>
                    <a:pt x="85725" y="0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6703695" y="1650682"/>
            <a:ext cx="33313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PrevXT / PrevDepth Buffer</a:t>
            </a:r>
          </a:p>
        </p:txBody>
      </p:sp>
      <p:sp>
        <p:nvSpPr>
          <p:cNvPr id="34" name="Ellipse 34"/>
          <p:cNvSpPr/>
          <p:nvPr/>
        </p:nvSpPr>
        <p:spPr>
          <a:xfrm>
            <a:off x="6362700" y="21621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536055" y="2102168"/>
            <a:ext cx="33171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保存尚未完成去噪的 latent 中间状态</a:t>
            </a:r>
          </a:p>
        </p:txBody>
      </p:sp>
      <p:sp>
        <p:nvSpPr>
          <p:cNvPr id="36" name="Ellipse 36"/>
          <p:cNvSpPr/>
          <p:nvPr/>
        </p:nvSpPr>
        <p:spPr>
          <a:xfrm>
            <a:off x="6362700" y="24479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536055" y="2387918"/>
            <a:ext cx="34551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并绑定对应 depth 条件，避免结构错位</a:t>
            </a:r>
          </a:p>
        </p:txBody>
      </p:sp>
      <p:sp>
        <p:nvSpPr>
          <p:cNvPr id="38" name="Ellipse 38"/>
          <p:cNvSpPr/>
          <p:nvPr/>
        </p:nvSpPr>
        <p:spPr>
          <a:xfrm>
            <a:off x="6362700" y="27336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536055" y="267366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本质是为少步扩散维持可滚动流水线</a:t>
            </a:r>
          </a:p>
        </p:txBody>
      </p:sp>
      <p:sp>
        <p:nvSpPr>
          <p:cNvPr id="40" name="Freeform 40"/>
          <p:cNvSpPr/>
          <p:nvPr/>
        </p:nvSpPr>
        <p:spPr>
          <a:xfrm>
            <a:off x="571500" y="3619500"/>
            <a:ext cx="5429250" cy="1809750"/>
          </a:xfrm>
          <a:custGeom>
            <a:avLst/>
            <a:gdLst/>
            <a:ahLst/>
            <a:cxnLst/>
            <a:rect l="l" t="t" r="r" b="b"/>
            <a:pathLst>
              <a:path w="5429250" h="1809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1733550"/>
                </a:lnTo>
                <a:cubicBezTo>
                  <a:pt x="5429250" y="1775634"/>
                  <a:pt x="5395134" y="1809750"/>
                  <a:pt x="535305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571500" y="3619500"/>
            <a:ext cx="5429250" cy="1809750"/>
          </a:xfrm>
          <a:custGeom>
            <a:avLst/>
            <a:gdLst/>
            <a:ahLst/>
            <a:cxnLst/>
            <a:rect l="l" t="t" r="r" b="b"/>
            <a:pathLst>
              <a:path w="5429250" h="1809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1733550"/>
                </a:lnTo>
                <a:cubicBezTo>
                  <a:pt x="5429250" y="1775634"/>
                  <a:pt x="5395134" y="1809750"/>
                  <a:pt x="535305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762000" y="3838575"/>
            <a:ext cx="228600" cy="171451"/>
            <a:chOff x="762000" y="3838575"/>
            <a:chExt cx="228600" cy="171451"/>
          </a:xfrm>
        </p:grpSpPr>
        <p:sp>
          <p:nvSpPr>
            <p:cNvPr id="42" name="Freeform 42"/>
            <p:cNvSpPr/>
            <p:nvPr/>
          </p:nvSpPr>
          <p:spPr>
            <a:xfrm>
              <a:off x="762000" y="3838575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228600" h="71438">
                  <a:moveTo>
                    <a:pt x="228600" y="0"/>
                  </a:moveTo>
                  <a:lnTo>
                    <a:pt x="0" y="0"/>
                  </a:lnTo>
                  <a:lnTo>
                    <a:pt x="0" y="71438"/>
                  </a:lnTo>
                  <a:lnTo>
                    <a:pt x="228600" y="71438"/>
                  </a:lnTo>
                  <a:lnTo>
                    <a:pt x="228600" y="0"/>
                  </a:lnTo>
                  <a:close/>
                  <a:moveTo>
                    <a:pt x="57150" y="35719"/>
                  </a:moveTo>
                  <a:cubicBezTo>
                    <a:pt x="57150" y="43609"/>
                    <a:pt x="50753" y="50006"/>
                    <a:pt x="42862" y="50006"/>
                  </a:cubicBezTo>
                  <a:cubicBezTo>
                    <a:pt x="34972" y="50006"/>
                    <a:pt x="28575" y="43609"/>
                    <a:pt x="28575" y="35719"/>
                  </a:cubicBezTo>
                  <a:cubicBezTo>
                    <a:pt x="28575" y="27828"/>
                    <a:pt x="34972" y="21431"/>
                    <a:pt x="42862" y="21431"/>
                  </a:cubicBezTo>
                  <a:cubicBezTo>
                    <a:pt x="50753" y="21431"/>
                    <a:pt x="57150" y="27828"/>
                    <a:pt x="57150" y="35719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62000" y="3938588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228600" h="71438">
                  <a:moveTo>
                    <a:pt x="228600" y="0"/>
                  </a:moveTo>
                  <a:lnTo>
                    <a:pt x="0" y="0"/>
                  </a:lnTo>
                  <a:lnTo>
                    <a:pt x="0" y="71438"/>
                  </a:lnTo>
                  <a:lnTo>
                    <a:pt x="228600" y="71438"/>
                  </a:lnTo>
                  <a:lnTo>
                    <a:pt x="228600" y="0"/>
                  </a:lnTo>
                  <a:close/>
                  <a:moveTo>
                    <a:pt x="42862" y="50006"/>
                  </a:moveTo>
                  <a:cubicBezTo>
                    <a:pt x="50753" y="50006"/>
                    <a:pt x="57150" y="43610"/>
                    <a:pt x="57150" y="35719"/>
                  </a:cubicBezTo>
                  <a:cubicBezTo>
                    <a:pt x="57150" y="27828"/>
                    <a:pt x="50753" y="21431"/>
                    <a:pt x="42862" y="21431"/>
                  </a:cubicBezTo>
                  <a:cubicBezTo>
                    <a:pt x="34972" y="21431"/>
                    <a:pt x="28575" y="27828"/>
                    <a:pt x="28575" y="35719"/>
                  </a:cubicBezTo>
                  <a:cubicBezTo>
                    <a:pt x="28575" y="43610"/>
                    <a:pt x="34972" y="50006"/>
                    <a:pt x="42862" y="50006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083945" y="3841432"/>
            <a:ext cx="27493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KV-cache 的作用与边界</a:t>
            </a:r>
          </a:p>
        </p:txBody>
      </p:sp>
      <p:sp>
        <p:nvSpPr>
          <p:cNvPr id="46" name="Ellipse 46"/>
          <p:cNvSpPr/>
          <p:nvPr/>
        </p:nvSpPr>
        <p:spPr>
          <a:xfrm>
            <a:off x="742950" y="43529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16305" y="4292918"/>
            <a:ext cx="42142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缓存的是历史 temporal attention 的 K/V 特征</a:t>
            </a:r>
          </a:p>
        </p:txBody>
      </p:sp>
      <p:sp>
        <p:nvSpPr>
          <p:cNvPr id="48" name="Ellipse 48"/>
          <p:cNvSpPr/>
          <p:nvPr/>
        </p:nvSpPr>
        <p:spPr>
          <a:xfrm>
            <a:off x="742950" y="46386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6305" y="4578668"/>
            <a:ext cx="46874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配合 attn_bias、pe_idx、update_idx 形成滚动记忆</a:t>
            </a:r>
          </a:p>
        </p:txBody>
      </p:sp>
      <p:sp>
        <p:nvSpPr>
          <p:cNvPr id="50" name="Ellipse 50"/>
          <p:cNvSpPr/>
          <p:nvPr/>
        </p:nvSpPr>
        <p:spPr>
          <a:xfrm>
            <a:off x="742950" y="49244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16305" y="48644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不是把过去原图再看一遍</a:t>
            </a:r>
          </a:p>
        </p:txBody>
      </p:sp>
      <p:sp>
        <p:nvSpPr>
          <p:cNvPr id="52" name="Freeform 52"/>
          <p:cNvSpPr/>
          <p:nvPr/>
        </p:nvSpPr>
        <p:spPr>
          <a:xfrm>
            <a:off x="6191250" y="3619500"/>
            <a:ext cx="5429250" cy="1809750"/>
          </a:xfrm>
          <a:custGeom>
            <a:avLst/>
            <a:gdLst/>
            <a:ahLst/>
            <a:cxnLst/>
            <a:rect l="l" t="t" r="r" b="b"/>
            <a:pathLst>
              <a:path w="5429250" h="1809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1733550"/>
                </a:lnTo>
                <a:cubicBezTo>
                  <a:pt x="5429250" y="1775634"/>
                  <a:pt x="5395134" y="1809750"/>
                  <a:pt x="535305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" name="Freeform 53"/>
          <p:cNvSpPr/>
          <p:nvPr/>
        </p:nvSpPr>
        <p:spPr>
          <a:xfrm>
            <a:off x="6191250" y="3619500"/>
            <a:ext cx="5429250" cy="1809750"/>
          </a:xfrm>
          <a:custGeom>
            <a:avLst/>
            <a:gdLst/>
            <a:ahLst/>
            <a:cxnLst/>
            <a:rect l="l" t="t" r="r" b="b"/>
            <a:pathLst>
              <a:path w="5429250" h="1809750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1733550"/>
                </a:lnTo>
                <a:cubicBezTo>
                  <a:pt x="5429250" y="1775634"/>
                  <a:pt x="5395134" y="1809750"/>
                  <a:pt x="5353050" y="1809750"/>
                </a:cubicBezTo>
                <a:lnTo>
                  <a:pt x="76200" y="1809750"/>
                </a:lnTo>
                <a:cubicBezTo>
                  <a:pt x="34116" y="1809750"/>
                  <a:pt x="0" y="1775634"/>
                  <a:pt x="0" y="1733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54" name="Freeform 54"/>
          <p:cNvSpPr/>
          <p:nvPr/>
        </p:nvSpPr>
        <p:spPr>
          <a:xfrm>
            <a:off x="6381750" y="3824288"/>
            <a:ext cx="228600" cy="185738"/>
          </a:xfrm>
          <a:custGeom>
            <a:avLst/>
            <a:gdLst/>
            <a:ahLst/>
            <a:cxnLst/>
            <a:rect l="l" t="t" r="r" b="b"/>
            <a:pathLst>
              <a:path w="228600" h="185738">
                <a:moveTo>
                  <a:pt x="57150" y="0"/>
                </a:moveTo>
                <a:lnTo>
                  <a:pt x="85725" y="0"/>
                </a:lnTo>
                <a:lnTo>
                  <a:pt x="117157" y="86439"/>
                </a:lnTo>
                <a:lnTo>
                  <a:pt x="142875" y="28575"/>
                </a:lnTo>
                <a:lnTo>
                  <a:pt x="171450" y="28575"/>
                </a:lnTo>
                <a:lnTo>
                  <a:pt x="228600" y="157162"/>
                </a:lnTo>
                <a:lnTo>
                  <a:pt x="228600" y="185738"/>
                </a:lnTo>
                <a:lnTo>
                  <a:pt x="0" y="185738"/>
                </a:lnTo>
                <a:lnTo>
                  <a:pt x="0" y="157162"/>
                </a:lnTo>
                <a:lnTo>
                  <a:pt x="57150" y="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703695" y="3841432"/>
            <a:ext cx="33439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Depth 在主路径里的真实角色</a:t>
            </a:r>
          </a:p>
        </p:txBody>
      </p:sp>
      <p:sp>
        <p:nvSpPr>
          <p:cNvPr id="56" name="Ellipse 56"/>
          <p:cNvSpPr/>
          <p:nvPr/>
        </p:nvSpPr>
        <p:spPr>
          <a:xfrm>
            <a:off x="6362700" y="43529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536055" y="4292918"/>
            <a:ext cx="21144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它不是标准 ControlNet</a:t>
            </a:r>
          </a:p>
        </p:txBody>
      </p:sp>
      <p:sp>
        <p:nvSpPr>
          <p:cNvPr id="58" name="Ellipse 58"/>
          <p:cNvSpPr/>
          <p:nvPr/>
        </p:nvSpPr>
        <p:spPr>
          <a:xfrm>
            <a:off x="6362700" y="46386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536055" y="457866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更接近主干入口的轻量结构注入</a:t>
            </a:r>
          </a:p>
        </p:txBody>
      </p:sp>
      <p:sp>
        <p:nvSpPr>
          <p:cNvPr id="60" name="Ellipse 60"/>
          <p:cNvSpPr/>
          <p:nvPr/>
        </p:nvSpPr>
        <p:spPr>
          <a:xfrm>
            <a:off x="6362700" y="49244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36055" y="4864418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优势是轻量稳定，职责是结构约束而不是风格表达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F6B8A">
              <a:alpha val="2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183B5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785110"/>
            <a:ext cx="46152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瓶颈与改造方向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640" y="3710940"/>
            <a:ext cx="217512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从“为什么还不够”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6640" y="3996690"/>
            <a:ext cx="24380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走向“下一步怎么改”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43D3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840647" y="6331268"/>
            <a:ext cx="39874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D9E3EE"/>
                </a:solidFill>
                <a:latin typeface="Arial"/>
                <a:ea typeface="Microsoft YaHei"/>
                <a:cs typeface="Arial"/>
              </a:rPr>
              <a:t>基于 Live2Diff 的实时水墨风格视频渲染研究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当前系统的核心短板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78389" y="2924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5408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现有系统对普通风格化已经很强，但离稳定的高质量水墨视频仍有明显距离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9570" y="6522720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数据来源：项目讲稿整理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24512" y="65227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瓶颈与改造方向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14" name="Freeform 14"/>
          <p:cNvSpPr/>
          <p:nvPr/>
        </p:nvSpPr>
        <p:spPr>
          <a:xfrm>
            <a:off x="571500" y="1428750"/>
            <a:ext cx="5334000" cy="4095750"/>
          </a:xfrm>
          <a:custGeom>
            <a:avLst/>
            <a:gdLst/>
            <a:ahLst/>
            <a:cxnLst/>
            <a:rect l="l" t="t" r="r" b="b"/>
            <a:pathLst>
              <a:path w="5334000" h="4095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19550"/>
                </a:lnTo>
                <a:cubicBezTo>
                  <a:pt x="5334000" y="4061634"/>
                  <a:pt x="5299884" y="4095750"/>
                  <a:pt x="5257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1428750"/>
            <a:ext cx="5334000" cy="4095750"/>
          </a:xfrm>
          <a:custGeom>
            <a:avLst/>
            <a:gdLst/>
            <a:ahLst/>
            <a:cxnLst/>
            <a:rect l="l" t="t" r="r" b="b"/>
            <a:pathLst>
              <a:path w="5334000" h="4095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19550"/>
                </a:lnTo>
                <a:cubicBezTo>
                  <a:pt x="5334000" y="4061634"/>
                  <a:pt x="5299884" y="4095750"/>
                  <a:pt x="5257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15340" y="15963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三个直接短板</a:t>
            </a:r>
          </a:p>
        </p:txBody>
      </p:sp>
      <p:sp>
        <p:nvSpPr>
          <p:cNvPr id="17" name="Freeform 17"/>
          <p:cNvSpPr/>
          <p:nvPr/>
        </p:nvSpPr>
        <p:spPr>
          <a:xfrm>
            <a:off x="819150" y="2190750"/>
            <a:ext cx="4838700" cy="876300"/>
          </a:xfrm>
          <a:custGeom>
            <a:avLst/>
            <a:gdLst/>
            <a:ahLst/>
            <a:cxnLst/>
            <a:rect l="l" t="t" r="r" b="b"/>
            <a:pathLst>
              <a:path w="4838700" h="876300">
                <a:moveTo>
                  <a:pt x="76200" y="0"/>
                </a:moveTo>
                <a:lnTo>
                  <a:pt x="4762500" y="0"/>
                </a:lnTo>
                <a:cubicBezTo>
                  <a:pt x="4804584" y="0"/>
                  <a:pt x="4838700" y="34116"/>
                  <a:pt x="4838700" y="76200"/>
                </a:cubicBezTo>
                <a:lnTo>
                  <a:pt x="4838700" y="800100"/>
                </a:lnTo>
                <a:cubicBezTo>
                  <a:pt x="4838700" y="842184"/>
                  <a:pt x="4804584" y="876300"/>
                  <a:pt x="4762500" y="876300"/>
                </a:cubicBezTo>
                <a:lnTo>
                  <a:pt x="76200" y="876300"/>
                </a:lnTo>
                <a:cubicBezTo>
                  <a:pt x="34116" y="876300"/>
                  <a:pt x="0" y="842184"/>
                  <a:pt x="0" y="800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BFD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819150" y="2190750"/>
            <a:ext cx="4838700" cy="876300"/>
          </a:xfrm>
          <a:custGeom>
            <a:avLst/>
            <a:gdLst/>
            <a:ahLst/>
            <a:cxnLst/>
            <a:rect l="l" t="t" r="r" b="b"/>
            <a:pathLst>
              <a:path w="4838700" h="876300">
                <a:moveTo>
                  <a:pt x="76200" y="0"/>
                </a:moveTo>
                <a:lnTo>
                  <a:pt x="4762500" y="0"/>
                </a:lnTo>
                <a:cubicBezTo>
                  <a:pt x="4804584" y="0"/>
                  <a:pt x="4838700" y="34116"/>
                  <a:pt x="4838700" y="76200"/>
                </a:cubicBezTo>
                <a:lnTo>
                  <a:pt x="4838700" y="800100"/>
                </a:lnTo>
                <a:cubicBezTo>
                  <a:pt x="4838700" y="842184"/>
                  <a:pt x="4804584" y="876300"/>
                  <a:pt x="4762500" y="876300"/>
                </a:cubicBezTo>
                <a:lnTo>
                  <a:pt x="76200" y="876300"/>
                </a:lnTo>
                <a:cubicBezTo>
                  <a:pt x="34116" y="876300"/>
                  <a:pt x="0" y="842184"/>
                  <a:pt x="0" y="800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009650" y="2352675"/>
            <a:ext cx="23728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1 depth-only 条件不足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3460" y="2670810"/>
            <a:ext cx="40614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无法表达留白组织、轮廓干净程度、飞白与墨色层次</a:t>
            </a:r>
          </a:p>
        </p:txBody>
      </p:sp>
      <p:sp>
        <p:nvSpPr>
          <p:cNvPr id="21" name="Freeform 21"/>
          <p:cNvSpPr/>
          <p:nvPr/>
        </p:nvSpPr>
        <p:spPr>
          <a:xfrm>
            <a:off x="819150" y="3219450"/>
            <a:ext cx="4838700" cy="876300"/>
          </a:xfrm>
          <a:custGeom>
            <a:avLst/>
            <a:gdLst/>
            <a:ahLst/>
            <a:cxnLst/>
            <a:rect l="l" t="t" r="r" b="b"/>
            <a:pathLst>
              <a:path w="4838700" h="876300">
                <a:moveTo>
                  <a:pt x="76200" y="0"/>
                </a:moveTo>
                <a:lnTo>
                  <a:pt x="4762500" y="0"/>
                </a:lnTo>
                <a:cubicBezTo>
                  <a:pt x="4804584" y="0"/>
                  <a:pt x="4838700" y="34116"/>
                  <a:pt x="4838700" y="76200"/>
                </a:cubicBezTo>
                <a:lnTo>
                  <a:pt x="4838700" y="800100"/>
                </a:lnTo>
                <a:cubicBezTo>
                  <a:pt x="4838700" y="842184"/>
                  <a:pt x="4804584" y="876300"/>
                  <a:pt x="4762500" y="876300"/>
                </a:cubicBezTo>
                <a:lnTo>
                  <a:pt x="76200" y="876300"/>
                </a:lnTo>
                <a:cubicBezTo>
                  <a:pt x="34116" y="876300"/>
                  <a:pt x="0" y="842184"/>
                  <a:pt x="0" y="800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BFD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819150" y="3219450"/>
            <a:ext cx="4838700" cy="876300"/>
          </a:xfrm>
          <a:custGeom>
            <a:avLst/>
            <a:gdLst/>
            <a:ahLst/>
            <a:cxnLst/>
            <a:rect l="l" t="t" r="r" b="b"/>
            <a:pathLst>
              <a:path w="4838700" h="876300">
                <a:moveTo>
                  <a:pt x="76200" y="0"/>
                </a:moveTo>
                <a:lnTo>
                  <a:pt x="4762500" y="0"/>
                </a:lnTo>
                <a:cubicBezTo>
                  <a:pt x="4804584" y="0"/>
                  <a:pt x="4838700" y="34116"/>
                  <a:pt x="4838700" y="76200"/>
                </a:cubicBezTo>
                <a:lnTo>
                  <a:pt x="4838700" y="800100"/>
                </a:lnTo>
                <a:cubicBezTo>
                  <a:pt x="4838700" y="842184"/>
                  <a:pt x="4804584" y="876300"/>
                  <a:pt x="4762500" y="876300"/>
                </a:cubicBezTo>
                <a:lnTo>
                  <a:pt x="76200" y="876300"/>
                </a:lnTo>
                <a:cubicBezTo>
                  <a:pt x="34116" y="876300"/>
                  <a:pt x="0" y="842184"/>
                  <a:pt x="0" y="800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09650" y="3381375"/>
            <a:ext cx="230388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2 时序机制主要保连续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3460" y="36995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能抑制普通闪烁，但不专门保笔触与白底稳定</a:t>
            </a:r>
          </a:p>
        </p:txBody>
      </p:sp>
      <p:sp>
        <p:nvSpPr>
          <p:cNvPr id="25" name="Freeform 25"/>
          <p:cNvSpPr/>
          <p:nvPr/>
        </p:nvSpPr>
        <p:spPr>
          <a:xfrm>
            <a:off x="819150" y="4248150"/>
            <a:ext cx="4838700" cy="876300"/>
          </a:xfrm>
          <a:custGeom>
            <a:avLst/>
            <a:gdLst/>
            <a:ahLst/>
            <a:cxnLst/>
            <a:rect l="l" t="t" r="r" b="b"/>
            <a:pathLst>
              <a:path w="4838700" h="876300">
                <a:moveTo>
                  <a:pt x="76200" y="0"/>
                </a:moveTo>
                <a:lnTo>
                  <a:pt x="4762500" y="0"/>
                </a:lnTo>
                <a:cubicBezTo>
                  <a:pt x="4804584" y="0"/>
                  <a:pt x="4838700" y="34116"/>
                  <a:pt x="4838700" y="76200"/>
                </a:cubicBezTo>
                <a:lnTo>
                  <a:pt x="4838700" y="800100"/>
                </a:lnTo>
                <a:cubicBezTo>
                  <a:pt x="4838700" y="842184"/>
                  <a:pt x="4804584" y="876300"/>
                  <a:pt x="4762500" y="876300"/>
                </a:cubicBezTo>
                <a:lnTo>
                  <a:pt x="76200" y="876300"/>
                </a:lnTo>
                <a:cubicBezTo>
                  <a:pt x="34116" y="876300"/>
                  <a:pt x="0" y="842184"/>
                  <a:pt x="0" y="800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BFD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819150" y="4248150"/>
            <a:ext cx="4838700" cy="876300"/>
          </a:xfrm>
          <a:custGeom>
            <a:avLst/>
            <a:gdLst/>
            <a:ahLst/>
            <a:cxnLst/>
            <a:rect l="l" t="t" r="r" b="b"/>
            <a:pathLst>
              <a:path w="4838700" h="876300">
                <a:moveTo>
                  <a:pt x="76200" y="0"/>
                </a:moveTo>
                <a:lnTo>
                  <a:pt x="4762500" y="0"/>
                </a:lnTo>
                <a:cubicBezTo>
                  <a:pt x="4804584" y="0"/>
                  <a:pt x="4838700" y="34116"/>
                  <a:pt x="4838700" y="76200"/>
                </a:cubicBezTo>
                <a:lnTo>
                  <a:pt x="4838700" y="800100"/>
                </a:lnTo>
                <a:cubicBezTo>
                  <a:pt x="4838700" y="842184"/>
                  <a:pt x="4804584" y="876300"/>
                  <a:pt x="4762500" y="876300"/>
                </a:cubicBezTo>
                <a:lnTo>
                  <a:pt x="76200" y="876300"/>
                </a:lnTo>
                <a:cubicBezTo>
                  <a:pt x="34116" y="876300"/>
                  <a:pt x="0" y="842184"/>
                  <a:pt x="0" y="800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09650" y="4410075"/>
            <a:ext cx="29939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3 采样与预处理不够水墨友好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3460" y="47282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时序归一化、采样强度与过滤策略都还偏通用</a:t>
            </a:r>
          </a:p>
        </p:txBody>
      </p:sp>
      <p:sp>
        <p:nvSpPr>
          <p:cNvPr id="29" name="Freeform 29"/>
          <p:cNvSpPr/>
          <p:nvPr/>
        </p:nvSpPr>
        <p:spPr>
          <a:xfrm>
            <a:off x="6286500" y="1428750"/>
            <a:ext cx="5334000" cy="4095750"/>
          </a:xfrm>
          <a:custGeom>
            <a:avLst/>
            <a:gdLst/>
            <a:ahLst/>
            <a:cxnLst/>
            <a:rect l="l" t="t" r="r" b="b"/>
            <a:pathLst>
              <a:path w="5334000" h="4095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19550"/>
                </a:lnTo>
                <a:cubicBezTo>
                  <a:pt x="5334000" y="4061634"/>
                  <a:pt x="5299884" y="4095750"/>
                  <a:pt x="5257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6286500" y="1428750"/>
            <a:ext cx="5334000" cy="4095750"/>
          </a:xfrm>
          <a:custGeom>
            <a:avLst/>
            <a:gdLst/>
            <a:ahLst/>
            <a:cxnLst/>
            <a:rect l="l" t="t" r="r" b="b"/>
            <a:pathLst>
              <a:path w="5334000" h="4095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019550"/>
                </a:lnTo>
                <a:cubicBezTo>
                  <a:pt x="5334000" y="4061634"/>
                  <a:pt x="5299884" y="4095750"/>
                  <a:pt x="5257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530340" y="15963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更本质的技术归因</a:t>
            </a:r>
          </a:p>
        </p:txBody>
      </p:sp>
      <p:sp>
        <p:nvSpPr>
          <p:cNvPr id="32" name="Ellipse 32"/>
          <p:cNvSpPr/>
          <p:nvPr/>
        </p:nvSpPr>
        <p:spPr>
          <a:xfrm>
            <a:off x="6515100" y="21621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88455" y="2102168"/>
            <a:ext cx="61859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结构条件过于单一：只有 depth，没有 edge / lineart / 前景背景约束</a:t>
            </a:r>
          </a:p>
        </p:txBody>
      </p:sp>
      <p:sp>
        <p:nvSpPr>
          <p:cNvPr id="34" name="Ellipse 34"/>
          <p:cNvSpPr/>
          <p:nvPr/>
        </p:nvSpPr>
        <p:spPr>
          <a:xfrm>
            <a:off x="6515100" y="25812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688455" y="2521268"/>
            <a:ext cx="55944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时序一致性目标过于通用：追求“少抖动”，却不等于“笔触连续”</a:t>
            </a:r>
          </a:p>
        </p:txBody>
      </p:sp>
      <p:sp>
        <p:nvSpPr>
          <p:cNvPr id="36" name="Ellipse 36"/>
          <p:cNvSpPr/>
          <p:nvPr/>
        </p:nvSpPr>
        <p:spPr>
          <a:xfrm>
            <a:off x="6515100" y="30003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88455" y="2940368"/>
            <a:ext cx="51606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风格控制仍偏静态：缺少面向水墨的阶段化采样与动态控制</a:t>
            </a:r>
          </a:p>
        </p:txBody>
      </p:sp>
      <p:sp>
        <p:nvSpPr>
          <p:cNvPr id="38" name="Ellipse 38"/>
          <p:cNvSpPr/>
          <p:nvPr/>
        </p:nvSpPr>
        <p:spPr>
          <a:xfrm>
            <a:off x="6515100" y="34194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688455" y="3359468"/>
            <a:ext cx="5752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记忆机制可复用但不可学习：尚未升级到风格敏感的递归时序记忆</a:t>
            </a:r>
          </a:p>
        </p:txBody>
      </p:sp>
      <p:sp>
        <p:nvSpPr>
          <p:cNvPr id="40" name="Freeform 40"/>
          <p:cNvSpPr/>
          <p:nvPr/>
        </p:nvSpPr>
        <p:spPr>
          <a:xfrm>
            <a:off x="6286500" y="4857750"/>
            <a:ext cx="5334000" cy="666750"/>
          </a:xfrm>
          <a:custGeom>
            <a:avLst/>
            <a:gdLst/>
            <a:ahLst/>
            <a:cxnLst/>
            <a:rect l="l" t="t" r="r" b="b"/>
            <a:pathLst>
              <a:path w="5334000" h="66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590550"/>
                </a:lnTo>
                <a:cubicBezTo>
                  <a:pt x="5334000" y="632634"/>
                  <a:pt x="5299884" y="666750"/>
                  <a:pt x="5257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F8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6286500" y="4857750"/>
            <a:ext cx="5334000" cy="666750"/>
          </a:xfrm>
          <a:custGeom>
            <a:avLst/>
            <a:gdLst/>
            <a:ahLst/>
            <a:cxnLst/>
            <a:rect l="l" t="t" r="r" b="b"/>
            <a:pathLst>
              <a:path w="5334000" h="66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590550"/>
                </a:lnTo>
                <a:cubicBezTo>
                  <a:pt x="5334000" y="632634"/>
                  <a:pt x="5299884" y="666750"/>
                  <a:pt x="5257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E7CAC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534150" y="496252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43D3D"/>
                </a:solidFill>
                <a:latin typeface="Arial"/>
                <a:ea typeface="Microsoft YaHei"/>
                <a:cs typeface="Arial"/>
              </a:rPr>
              <a:t>因此，当前差距的核心不是算力不够，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34150" y="5210175"/>
            <a:ext cx="57888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43D3D"/>
                </a:solidFill>
                <a:latin typeface="Arial"/>
                <a:ea typeface="Microsoft YaHei"/>
                <a:cs typeface="Arial"/>
              </a:rPr>
              <a:t>而是水墨特有的条件控制与时序建模还没有进入主路径。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75847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升级路线与总结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78389" y="2924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EEF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5408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升级方向可以压缩为两条主线：多条件融合，以及分层的面向风格采样调度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9570" y="6522720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数据来源：项目讲稿整理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24512" y="65227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瓶颈与改造方向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1619250"/>
            <a:ext cx="1714500" cy="857250"/>
          </a:xfrm>
          <a:custGeom>
            <a:avLst/>
            <a:gdLst/>
            <a:ahLst/>
            <a:cxnLst/>
            <a:rect l="l" t="t" r="r" b="b"/>
            <a:pathLst>
              <a:path w="1714500" h="857250">
                <a:moveTo>
                  <a:pt x="76200" y="0"/>
                </a:moveTo>
                <a:lnTo>
                  <a:pt x="1638300" y="0"/>
                </a:lnTo>
                <a:cubicBezTo>
                  <a:pt x="1680384" y="0"/>
                  <a:pt x="1714500" y="34116"/>
                  <a:pt x="1714500" y="76200"/>
                </a:cubicBezTo>
                <a:lnTo>
                  <a:pt x="1714500" y="781050"/>
                </a:lnTo>
                <a:cubicBezTo>
                  <a:pt x="1714500" y="823134"/>
                  <a:pt x="1680384" y="857250"/>
                  <a:pt x="1638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666750" y="1619250"/>
            <a:ext cx="1714500" cy="857250"/>
          </a:xfrm>
          <a:custGeom>
            <a:avLst/>
            <a:gdLst/>
            <a:ahLst/>
            <a:cxnLst/>
            <a:rect l="l" t="t" r="r" b="b"/>
            <a:pathLst>
              <a:path w="1714500" h="857250">
                <a:moveTo>
                  <a:pt x="76200" y="0"/>
                </a:moveTo>
                <a:lnTo>
                  <a:pt x="1638300" y="0"/>
                </a:lnTo>
                <a:cubicBezTo>
                  <a:pt x="1680384" y="0"/>
                  <a:pt x="1714500" y="34116"/>
                  <a:pt x="1714500" y="76200"/>
                </a:cubicBezTo>
                <a:lnTo>
                  <a:pt x="1714500" y="781050"/>
                </a:lnTo>
                <a:cubicBezTo>
                  <a:pt x="1714500" y="823134"/>
                  <a:pt x="1680384" y="857250"/>
                  <a:pt x="1638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43950" y="19364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输入与预处理</a:t>
            </a:r>
          </a:p>
        </p:txBody>
      </p:sp>
      <p:sp>
        <p:nvSpPr>
          <p:cNvPr id="17" name="Freeform 17"/>
          <p:cNvSpPr/>
          <p:nvPr/>
        </p:nvSpPr>
        <p:spPr>
          <a:xfrm>
            <a:off x="2667000" y="1619250"/>
            <a:ext cx="2095500" cy="857250"/>
          </a:xfrm>
          <a:custGeom>
            <a:avLst/>
            <a:gdLst/>
            <a:ahLst/>
            <a:cxnLst/>
            <a:rect l="l" t="t" r="r" b="b"/>
            <a:pathLst>
              <a:path w="2095500" h="85725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81050"/>
                </a:lnTo>
                <a:cubicBezTo>
                  <a:pt x="2095500" y="823134"/>
                  <a:pt x="2061384" y="857250"/>
                  <a:pt x="2019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2667000" y="1619250"/>
            <a:ext cx="2095500" cy="857250"/>
          </a:xfrm>
          <a:custGeom>
            <a:avLst/>
            <a:gdLst/>
            <a:ahLst/>
            <a:cxnLst/>
            <a:rect l="l" t="t" r="r" b="b"/>
            <a:pathLst>
              <a:path w="2095500" h="857250">
                <a:moveTo>
                  <a:pt x="76200" y="0"/>
                </a:moveTo>
                <a:lnTo>
                  <a:pt x="2019300" y="0"/>
                </a:lnTo>
                <a:cubicBezTo>
                  <a:pt x="2061384" y="0"/>
                  <a:pt x="2095500" y="34116"/>
                  <a:pt x="2095500" y="76200"/>
                </a:cubicBezTo>
                <a:lnTo>
                  <a:pt x="2095500" y="781050"/>
                </a:lnTo>
                <a:cubicBezTo>
                  <a:pt x="2095500" y="823134"/>
                  <a:pt x="2061384" y="857250"/>
                  <a:pt x="2019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472917" y="1936432"/>
            <a:ext cx="24836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Depth + Edge + Mask</a:t>
            </a:r>
          </a:p>
        </p:txBody>
      </p:sp>
      <p:sp>
        <p:nvSpPr>
          <p:cNvPr id="20" name="Freeform 20"/>
          <p:cNvSpPr/>
          <p:nvPr/>
        </p:nvSpPr>
        <p:spPr>
          <a:xfrm>
            <a:off x="5143500" y="1619250"/>
            <a:ext cx="1809750" cy="857250"/>
          </a:xfrm>
          <a:custGeom>
            <a:avLst/>
            <a:gdLst/>
            <a:ahLst/>
            <a:cxnLst/>
            <a:rect l="l" t="t" r="r" b="b"/>
            <a:pathLst>
              <a:path w="1809750" h="857250">
                <a:moveTo>
                  <a:pt x="76200" y="0"/>
                </a:moveTo>
                <a:lnTo>
                  <a:pt x="1733550" y="0"/>
                </a:lnTo>
                <a:cubicBezTo>
                  <a:pt x="1775634" y="0"/>
                  <a:pt x="1809750" y="34116"/>
                  <a:pt x="1809750" y="76200"/>
                </a:cubicBezTo>
                <a:lnTo>
                  <a:pt x="1809750" y="781050"/>
                </a:lnTo>
                <a:cubicBezTo>
                  <a:pt x="1809750" y="823134"/>
                  <a:pt x="1775634" y="857250"/>
                  <a:pt x="17335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5143500" y="1619250"/>
            <a:ext cx="1809750" cy="857250"/>
          </a:xfrm>
          <a:custGeom>
            <a:avLst/>
            <a:gdLst/>
            <a:ahLst/>
            <a:cxnLst/>
            <a:rect l="l" t="t" r="r" b="b"/>
            <a:pathLst>
              <a:path w="1809750" h="857250">
                <a:moveTo>
                  <a:pt x="76200" y="0"/>
                </a:moveTo>
                <a:lnTo>
                  <a:pt x="1733550" y="0"/>
                </a:lnTo>
                <a:cubicBezTo>
                  <a:pt x="1775634" y="0"/>
                  <a:pt x="1809750" y="34116"/>
                  <a:pt x="1809750" y="76200"/>
                </a:cubicBezTo>
                <a:lnTo>
                  <a:pt x="1809750" y="781050"/>
                </a:lnTo>
                <a:cubicBezTo>
                  <a:pt x="1809750" y="823134"/>
                  <a:pt x="1775634" y="857250"/>
                  <a:pt x="17335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040597" y="1936432"/>
            <a:ext cx="201555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Condition Fusion</a:t>
            </a:r>
          </a:p>
        </p:txBody>
      </p:sp>
      <p:sp>
        <p:nvSpPr>
          <p:cNvPr id="23" name="Freeform 23"/>
          <p:cNvSpPr/>
          <p:nvPr/>
        </p:nvSpPr>
        <p:spPr>
          <a:xfrm>
            <a:off x="7524750" y="1619250"/>
            <a:ext cx="1905000" cy="857250"/>
          </a:xfrm>
          <a:custGeom>
            <a:avLst/>
            <a:gdLst/>
            <a:ahLst/>
            <a:cxnLst/>
            <a:rect l="l" t="t" r="r" b="b"/>
            <a:pathLst>
              <a:path w="1905000" h="85725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781050"/>
                </a:lnTo>
                <a:cubicBezTo>
                  <a:pt x="1905000" y="823134"/>
                  <a:pt x="1870884" y="857250"/>
                  <a:pt x="1828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7524750" y="1619250"/>
            <a:ext cx="1905000" cy="857250"/>
          </a:xfrm>
          <a:custGeom>
            <a:avLst/>
            <a:gdLst/>
            <a:ahLst/>
            <a:cxnLst/>
            <a:rect l="l" t="t" r="r" b="b"/>
            <a:pathLst>
              <a:path w="1905000" h="857250">
                <a:moveTo>
                  <a:pt x="76200" y="0"/>
                </a:moveTo>
                <a:lnTo>
                  <a:pt x="1828800" y="0"/>
                </a:lnTo>
                <a:cubicBezTo>
                  <a:pt x="1870884" y="0"/>
                  <a:pt x="1905000" y="34116"/>
                  <a:pt x="1905000" y="76200"/>
                </a:cubicBezTo>
                <a:lnTo>
                  <a:pt x="1905000" y="781050"/>
                </a:lnTo>
                <a:cubicBezTo>
                  <a:pt x="1905000" y="823134"/>
                  <a:pt x="1870884" y="857250"/>
                  <a:pt x="1828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520078" y="1936432"/>
            <a:ext cx="19143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Streaming UNet</a:t>
            </a:r>
          </a:p>
        </p:txBody>
      </p:sp>
      <p:sp>
        <p:nvSpPr>
          <p:cNvPr id="26" name="Freeform 26"/>
          <p:cNvSpPr/>
          <p:nvPr/>
        </p:nvSpPr>
        <p:spPr>
          <a:xfrm>
            <a:off x="9715500" y="1619250"/>
            <a:ext cx="1809750" cy="857250"/>
          </a:xfrm>
          <a:custGeom>
            <a:avLst/>
            <a:gdLst/>
            <a:ahLst/>
            <a:cxnLst/>
            <a:rect l="l" t="t" r="r" b="b"/>
            <a:pathLst>
              <a:path w="1809750" h="857250">
                <a:moveTo>
                  <a:pt x="76200" y="0"/>
                </a:moveTo>
                <a:lnTo>
                  <a:pt x="1733550" y="0"/>
                </a:lnTo>
                <a:cubicBezTo>
                  <a:pt x="1775634" y="0"/>
                  <a:pt x="1809750" y="34116"/>
                  <a:pt x="1809750" y="76200"/>
                </a:cubicBezTo>
                <a:lnTo>
                  <a:pt x="1809750" y="781050"/>
                </a:lnTo>
                <a:cubicBezTo>
                  <a:pt x="1809750" y="823134"/>
                  <a:pt x="1775634" y="857250"/>
                  <a:pt x="17335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9715500" y="1619250"/>
            <a:ext cx="1809750" cy="857250"/>
          </a:xfrm>
          <a:custGeom>
            <a:avLst/>
            <a:gdLst/>
            <a:ahLst/>
            <a:cxnLst/>
            <a:rect l="l" t="t" r="r" b="b"/>
            <a:pathLst>
              <a:path w="1809750" h="857250">
                <a:moveTo>
                  <a:pt x="76200" y="0"/>
                </a:moveTo>
                <a:lnTo>
                  <a:pt x="1733550" y="0"/>
                </a:lnTo>
                <a:cubicBezTo>
                  <a:pt x="1775634" y="0"/>
                  <a:pt x="1809750" y="34116"/>
                  <a:pt x="1809750" y="76200"/>
                </a:cubicBezTo>
                <a:lnTo>
                  <a:pt x="1809750" y="781050"/>
                </a:lnTo>
                <a:cubicBezTo>
                  <a:pt x="1809750" y="823134"/>
                  <a:pt x="1775634" y="857250"/>
                  <a:pt x="17335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2F6B8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176117" y="1936432"/>
            <a:ext cx="28885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Two-Stage Ink Sampling</a:t>
            </a:r>
          </a:p>
        </p:txBody>
      </p:sp>
      <p:sp>
        <p:nvSpPr>
          <p:cNvPr id="29" name="Line 29"/>
          <p:cNvSpPr/>
          <p:nvPr/>
        </p:nvSpPr>
        <p:spPr>
          <a:xfrm>
            <a:off x="2381250" y="204787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2476500" y="1990725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4762500" y="2047875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4953000" y="1990725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6953250" y="204787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7334250" y="1990725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35" name="Line 35"/>
          <p:cNvSpPr/>
          <p:nvPr/>
        </p:nvSpPr>
        <p:spPr>
          <a:xfrm>
            <a:off x="9429750" y="204787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9525000" y="1990725"/>
            <a:ext cx="76200" cy="114300"/>
          </a:xfrm>
          <a:custGeom>
            <a:avLst/>
            <a:gdLst/>
            <a:ahLst/>
            <a:cxnLst/>
            <a:rect l="l" t="t" r="r" b="b"/>
            <a:pathLst>
              <a:path w="76200" h="114300">
                <a:moveTo>
                  <a:pt x="0" y="0"/>
                </a:moveTo>
                <a:lnTo>
                  <a:pt x="0" y="114300"/>
                </a:lnTo>
                <a:lnTo>
                  <a:pt x="76200" y="57150"/>
                </a:lnTo>
                <a:close/>
              </a:path>
            </a:pathLst>
          </a:custGeom>
          <a:solidFill>
            <a:srgbClr val="2F6B8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39140" y="28155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对应的改造动作</a:t>
            </a:r>
          </a:p>
        </p:txBody>
      </p:sp>
      <p:sp>
        <p:nvSpPr>
          <p:cNvPr id="38" name="Ellipse 38"/>
          <p:cNvSpPr/>
          <p:nvPr/>
        </p:nvSpPr>
        <p:spPr>
          <a:xfrm>
            <a:off x="781050" y="33051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54405" y="3245168"/>
            <a:ext cx="59098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把 encode_depth 从逐帧 min-max 归一化改成更稳定的时序归一化</a:t>
            </a:r>
          </a:p>
        </p:txBody>
      </p:sp>
      <p:sp>
        <p:nvSpPr>
          <p:cNvPr id="40" name="Ellipse 40"/>
          <p:cNvSpPr/>
          <p:nvPr/>
        </p:nvSpPr>
        <p:spPr>
          <a:xfrm>
            <a:off x="781050" y="37052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54405" y="3645218"/>
            <a:ext cx="59788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从 depth-only 升级为 depth + edge/lineart，并引入前景背景分离</a:t>
            </a:r>
          </a:p>
        </p:txBody>
      </p:sp>
      <p:sp>
        <p:nvSpPr>
          <p:cNvPr id="42" name="Ellipse 42"/>
          <p:cNvSpPr/>
          <p:nvPr/>
        </p:nvSpPr>
        <p:spPr>
          <a:xfrm>
            <a:off x="781050" y="410527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54405" y="4045268"/>
            <a:ext cx="47465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让早期 timestep 更偏结构、后期 timestep 更偏墨韵</a:t>
            </a:r>
          </a:p>
        </p:txBody>
      </p:sp>
      <p:sp>
        <p:nvSpPr>
          <p:cNvPr id="44" name="Ellipse 44"/>
          <p:cNvSpPr/>
          <p:nvPr/>
        </p:nvSpPr>
        <p:spPr>
          <a:xfrm>
            <a:off x="781050" y="4505325"/>
            <a:ext cx="76200" cy="76200"/>
          </a:xfrm>
          <a:prstGeom prst="ellipse">
            <a:avLst/>
          </a:prstGeom>
          <a:solidFill>
            <a:srgbClr val="2F6B8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54405" y="4445318"/>
            <a:ext cx="69647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训练 temporal adapter / temporal LoRA，并把 cache 复用升级为可学习记忆</a:t>
            </a:r>
          </a:p>
        </p:txBody>
      </p:sp>
      <p:sp>
        <p:nvSpPr>
          <p:cNvPr id="46" name="Freeform 46"/>
          <p:cNvSpPr/>
          <p:nvPr/>
        </p:nvSpPr>
        <p:spPr>
          <a:xfrm>
            <a:off x="7239000" y="3048000"/>
            <a:ext cx="4381500" cy="2476500"/>
          </a:xfrm>
          <a:custGeom>
            <a:avLst/>
            <a:gdLst/>
            <a:ahLst/>
            <a:cxnLst/>
            <a:rect l="l" t="t" r="r" b="b"/>
            <a:pathLst>
              <a:path w="4381500" h="2476500">
                <a:moveTo>
                  <a:pt x="76200" y="0"/>
                </a:moveTo>
                <a:lnTo>
                  <a:pt x="4305300" y="0"/>
                </a:lnTo>
                <a:cubicBezTo>
                  <a:pt x="4347384" y="0"/>
                  <a:pt x="4381500" y="34116"/>
                  <a:pt x="4381500" y="76200"/>
                </a:cubicBezTo>
                <a:lnTo>
                  <a:pt x="4381500" y="2400300"/>
                </a:lnTo>
                <a:cubicBezTo>
                  <a:pt x="4381500" y="2442384"/>
                  <a:pt x="4347384" y="2476500"/>
                  <a:pt x="4305300" y="2476500"/>
                </a:cubicBezTo>
                <a:lnTo>
                  <a:pt x="76200" y="2476500"/>
                </a:lnTo>
                <a:cubicBezTo>
                  <a:pt x="34116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EEF5"/>
          </a:solidFill>
          <a:ln>
            <a:noFill/>
          </a:ln>
        </p:spPr>
      </p:sp>
      <p:sp>
        <p:nvSpPr>
          <p:cNvPr id="47" name="Freeform 47"/>
          <p:cNvSpPr/>
          <p:nvPr/>
        </p:nvSpPr>
        <p:spPr>
          <a:xfrm>
            <a:off x="7239000" y="3048000"/>
            <a:ext cx="4381500" cy="2476500"/>
          </a:xfrm>
          <a:custGeom>
            <a:avLst/>
            <a:gdLst/>
            <a:ahLst/>
            <a:cxnLst/>
            <a:rect l="l" t="t" r="r" b="b"/>
            <a:pathLst>
              <a:path w="4381500" h="2476500">
                <a:moveTo>
                  <a:pt x="76200" y="0"/>
                </a:moveTo>
                <a:lnTo>
                  <a:pt x="4305300" y="0"/>
                </a:lnTo>
                <a:cubicBezTo>
                  <a:pt x="4347384" y="0"/>
                  <a:pt x="4381500" y="34116"/>
                  <a:pt x="4381500" y="76200"/>
                </a:cubicBezTo>
                <a:lnTo>
                  <a:pt x="4381500" y="2400300"/>
                </a:lnTo>
                <a:cubicBezTo>
                  <a:pt x="4381500" y="2442384"/>
                  <a:pt x="4347384" y="2476500"/>
                  <a:pt x="4305300" y="2476500"/>
                </a:cubicBezTo>
                <a:lnTo>
                  <a:pt x="76200" y="2476500"/>
                </a:lnTo>
                <a:cubicBezTo>
                  <a:pt x="34116" y="2476500"/>
                  <a:pt x="0" y="2442384"/>
                  <a:pt x="0" y="2400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9525">
            <a:solidFill>
              <a:srgbClr val="C9D3DF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7501890" y="32156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答辩结论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05700" y="3667125"/>
            <a:ext cx="48358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1. Live2Diff 的价值在于提供实时视频扩散底座。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05700" y="4067175"/>
            <a:ext cx="56026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2. 当前系统的真正中枢是 UNet，而不是 demo 或 LoRA。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505700" y="4467225"/>
            <a:ext cx="58216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3. 面向高质量实时水墨，关键差距在条件控制与时序建模。</a:t>
            </a:r>
          </a:p>
        </p:txBody>
      </p:sp>
      <p:sp>
        <p:nvSpPr>
          <p:cNvPr id="52" name="Freeform 52"/>
          <p:cNvSpPr/>
          <p:nvPr/>
        </p:nvSpPr>
        <p:spPr>
          <a:xfrm>
            <a:off x="571500" y="5810250"/>
            <a:ext cx="11049000" cy="361950"/>
          </a:xfrm>
          <a:custGeom>
            <a:avLst/>
            <a:gdLst/>
            <a:ahLst/>
            <a:cxnLst/>
            <a:rect l="l" t="t" r="r" b="b"/>
            <a:pathLst>
              <a:path w="11049000" h="3619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285750"/>
                </a:lnTo>
                <a:cubicBezTo>
                  <a:pt x="11049000" y="327834"/>
                  <a:pt x="11014884" y="361950"/>
                  <a:pt x="10972800" y="361950"/>
                </a:cubicBezTo>
                <a:lnTo>
                  <a:pt x="76200" y="361950"/>
                </a:lnTo>
                <a:cubicBezTo>
                  <a:pt x="34116" y="361950"/>
                  <a:pt x="0" y="327834"/>
                  <a:pt x="0" y="2857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9FC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44855" y="5902642"/>
            <a:ext cx="118761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一句话概括：从“能跑起来的实时视频扩散”走向“稳定可控的实时水墨视频”，核心在于让结构条件和时序记忆真正面向水墨服务。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87889" y="406718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Ink-Diffusion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01967" y="2404110"/>
            <a:ext cx="158806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谢 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1580" y="3282315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欢迎老师批评指正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2F6B8A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43D3D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3429000" y="4238625"/>
            <a:ext cx="5334000" cy="1238250"/>
          </a:xfrm>
          <a:custGeom>
            <a:avLst/>
            <a:gdLst/>
            <a:ahLst/>
            <a:cxnLst/>
            <a:rect l="l" t="t" r="r" b="b"/>
            <a:pathLst>
              <a:path w="5334000" h="1238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162050"/>
                </a:lnTo>
                <a:cubicBezTo>
                  <a:pt x="5334000" y="1204134"/>
                  <a:pt x="5299884" y="1238250"/>
                  <a:pt x="5257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781854" y="4521518"/>
            <a:ext cx="46282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项目主题：Ink-Diffusion / Live2Diff 实时水墨视频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15790" y="4871085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当前阶段：系统拆解、问题定位、改造设计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18379" y="5156835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Ink-Diffusion 项目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005364" y="6535102"/>
            <a:ext cx="21812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Ink-Diffusion 项目答辩 · 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6815" y="65351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A8795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